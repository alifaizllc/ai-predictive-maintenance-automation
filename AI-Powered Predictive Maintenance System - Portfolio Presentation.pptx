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3" r:id="rId8"/>
    <p:sldId id="264" r:id="rId9"/>
    <p:sldId id="266" r:id="rId10"/>
    <p:sldId id="274" r:id="rId11"/>
    <p:sldId id="267" r:id="rId12"/>
    <p:sldId id="269" r:id="rId13"/>
    <p:sldId id="275" r:id="rId14"/>
    <p:sldId id="273"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678"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300" b="0" i="0" u="none" strike="noStrike">
                <a:solidFill>
                  <a:srgbClr val="121826"/>
                </a:solidFill>
                <a:latin typeface="Calibri"/>
              </a:defRPr>
            </a:pPr>
            <a:r>
              <a:rPr lang="en-US" sz="1300" b="0" i="0" u="none" strike="noStrike">
                <a:solidFill>
                  <a:srgbClr val="121826"/>
                </a:solidFill>
                <a:latin typeface="Calibri"/>
              </a:rPr>
              <a:t>Model Performance (Test Set)</a:t>
            </a:r>
          </a:p>
        </c:rich>
      </c:tx>
      <c:layout/>
      <c:overlay val="0"/>
    </c:title>
    <c:autoTitleDeleted val="0"/>
    <c:plotArea>
      <c:layout/>
      <c:barChart>
        <c:barDir val="col"/>
        <c:grouping val="clustered"/>
        <c:varyColors val="0"/>
        <c:ser>
          <c:idx val="0"/>
          <c:order val="0"/>
          <c:tx>
            <c:strRef>
              <c:f>Sheet1!$B$1</c:f>
              <c:strCache>
                <c:ptCount val="1"/>
                <c:pt idx="0">
                  <c:v>Failure Prediction</c:v>
                </c:pt>
              </c:strCache>
            </c:strRef>
          </c:tx>
          <c:spPr>
            <a:solidFill>
              <a:srgbClr val="3B6E8F"/>
            </a:solidFill>
            <a:effectLst/>
          </c:spPr>
          <c:invertIfNegative val="0"/>
          <c:dLbls>
            <c:numFmt formatCode="#,##0" sourceLinked="0"/>
            <c:txPr>
              <a:bodyPr/>
              <a:lstStyle/>
              <a:p>
                <a:pPr>
                  <a:defRPr sz="900" b="0" i="0" u="none" strike="noStrike">
                    <a:solidFill>
                      <a:srgbClr val="121826"/>
                    </a:solidFill>
                    <a:latin typeface="Arial"/>
                  </a:defRPr>
                </a:pPr>
                <a:endParaRPr lang="en-US"/>
              </a:p>
            </c:txPr>
            <c:showLegendKey val="0"/>
            <c:showVal val="1"/>
            <c:showCatName val="0"/>
            <c:showSerName val="0"/>
            <c:showPercent val="0"/>
            <c:showBubbleSize val="0"/>
            <c:showLeaderLines val="0"/>
          </c:dLbls>
          <c:cat>
            <c:strRef>
              <c:f>Sheet1!$A$2:$A$5</c:f>
              <c:strCache>
                <c:ptCount val="4"/>
                <c:pt idx="0">
                  <c:v>Accuracy</c:v>
                </c:pt>
                <c:pt idx="1">
                  <c:v>Precision</c:v>
                </c:pt>
                <c:pt idx="2">
                  <c:v>Recall</c:v>
                </c:pt>
                <c:pt idx="3">
                  <c:v>F1-Score</c:v>
                </c:pt>
              </c:strCache>
            </c:strRef>
          </c:cat>
          <c:val>
            <c:numRef>
              <c:f>Sheet1!$B$2:$B$5</c:f>
              <c:numCache>
                <c:formatCode>General</c:formatCode>
                <c:ptCount val="4"/>
                <c:pt idx="0">
                  <c:v>0.94</c:v>
                </c:pt>
                <c:pt idx="1">
                  <c:v>0.9</c:v>
                </c:pt>
                <c:pt idx="2">
                  <c:v>0.88</c:v>
                </c:pt>
                <c:pt idx="3">
                  <c:v>0.89</c:v>
                </c:pt>
              </c:numCache>
            </c:numRef>
          </c:val>
        </c:ser>
        <c:ser>
          <c:idx val="1"/>
          <c:order val="1"/>
          <c:tx>
            <c:strRef>
              <c:f>Sheet1!$C$1</c:f>
              <c:strCache>
                <c:ptCount val="1"/>
                <c:pt idx="0">
                  <c:v>Failure Type Classification</c:v>
                </c:pt>
              </c:strCache>
            </c:strRef>
          </c:tx>
          <c:spPr>
            <a:solidFill>
              <a:srgbClr val="E8A33D"/>
            </a:solidFill>
            <a:effectLst/>
          </c:spPr>
          <c:invertIfNegative val="0"/>
          <c:dLbls>
            <c:numFmt formatCode="#,##0" sourceLinked="0"/>
            <c:txPr>
              <a:bodyPr/>
              <a:lstStyle/>
              <a:p>
                <a:pPr>
                  <a:defRPr sz="900" b="0" i="0" u="none" strike="noStrike">
                    <a:solidFill>
                      <a:srgbClr val="121826"/>
                    </a:solidFill>
                    <a:latin typeface="Arial"/>
                  </a:defRPr>
                </a:pPr>
                <a:endParaRPr lang="en-US"/>
              </a:p>
            </c:txPr>
            <c:showLegendKey val="0"/>
            <c:showVal val="1"/>
            <c:showCatName val="0"/>
            <c:showSerName val="0"/>
            <c:showPercent val="0"/>
            <c:showBubbleSize val="0"/>
            <c:showLeaderLines val="0"/>
          </c:dLbls>
          <c:cat>
            <c:strRef>
              <c:f>Sheet1!$A$2:$A$5</c:f>
              <c:strCache>
                <c:ptCount val="4"/>
                <c:pt idx="0">
                  <c:v>Accuracy</c:v>
                </c:pt>
                <c:pt idx="1">
                  <c:v>Precision</c:v>
                </c:pt>
                <c:pt idx="2">
                  <c:v>Recall</c:v>
                </c:pt>
                <c:pt idx="3">
                  <c:v>F1-Score</c:v>
                </c:pt>
              </c:strCache>
            </c:strRef>
          </c:cat>
          <c:val>
            <c:numRef>
              <c:f>Sheet1!$C$2:$C$5</c:f>
              <c:numCache>
                <c:formatCode>General</c:formatCode>
                <c:ptCount val="4"/>
                <c:pt idx="0">
                  <c:v>0.91</c:v>
                </c:pt>
                <c:pt idx="1">
                  <c:v>0.87</c:v>
                </c:pt>
                <c:pt idx="2">
                  <c:v>0.85</c:v>
                </c:pt>
                <c:pt idx="3">
                  <c:v>0.86</c:v>
                </c:pt>
              </c:numCache>
            </c:numRef>
          </c:val>
        </c:ser>
        <c:dLbls>
          <c:showLegendKey val="0"/>
          <c:showVal val="1"/>
          <c:showCatName val="0"/>
          <c:showSerName val="0"/>
          <c:showPercent val="0"/>
          <c:showBubbleSize val="0"/>
        </c:dLbls>
        <c:gapWidth val="150"/>
        <c:axId val="129037824"/>
        <c:axId val="129039360"/>
      </c:barChart>
      <c:catAx>
        <c:axId val="12903782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2"/>
                </a:solidFill>
                <a:latin typeface="Arial"/>
              </a:defRPr>
            </a:pPr>
            <a:endParaRPr lang="en-US"/>
          </a:p>
        </c:txPr>
        <c:crossAx val="129039360"/>
        <c:crosses val="autoZero"/>
        <c:auto val="1"/>
        <c:lblAlgn val="ctr"/>
        <c:lblOffset val="100"/>
        <c:noMultiLvlLbl val="1"/>
      </c:catAx>
      <c:valAx>
        <c:axId val="129039360"/>
        <c:scaling>
          <c:orientation val="minMax"/>
          <c:max val="1"/>
          <c:min val="0"/>
        </c:scaling>
        <c:delete val="0"/>
        <c:axPos val="l"/>
        <c:majorGridlines>
          <c:spPr>
            <a:ln w="12700" cap="flat">
              <a:solidFill>
                <a:srgbClr val="E2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129037824"/>
        <c:crosses val="autoZero"/>
        <c:crossBetween val="between"/>
      </c:valAx>
      <c:spPr>
        <a:noFill/>
        <a:ln>
          <a:noFill/>
        </a:ln>
        <a:effectLst/>
      </c:spPr>
    </c:plotArea>
    <c:legend>
      <c:legendPos val="b"/>
      <c:layout/>
      <c:overlay val="0"/>
      <c:txPr>
        <a:bodyPr/>
        <a:lstStyle/>
        <a:p>
          <a:pPr>
            <a:defRPr sz="1100">
              <a:solidFill>
                <a:srgbClr val="5B6472"/>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C319D77A-24A0-40CF-B90E-6F853D1E2A1F}" type="datetimeFigureOut">
              <a:rPr lang="en-US" smtClean="0"/>
              <a:t>7/18/2026</a:t>
            </a:fld>
            <a:endParaRPr lang="en-US"/>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CFD1C0C0-199D-4A65-B5FC-41B05BF01643}" type="slidenum">
              <a:rPr lang="en-US" smtClean="0"/>
              <a:t>‹#›</a:t>
            </a:fld>
            <a:endParaRPr lang="en-US"/>
          </a:p>
        </p:txBody>
      </p:sp>
    </p:spTree>
    <p:extLst>
      <p:ext uri="{BB962C8B-B14F-4D97-AF65-F5344CB8AC3E}">
        <p14:creationId xmlns:p14="http://schemas.microsoft.com/office/powerpoint/2010/main" val="4191701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graduation project is an AI-Powered Predictive Maintenance System for industrial machines. The goal is simple: predict machine failures up to 24 hours before they happen, using real sensor data and machine learning, then automatically alert the maintenance team and visualize machine health. Over the next 15 minutes I'll walk through the problem, the architecture, the models, and the automation pipeline that ties everything together.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 downtime. Industry studies consistently show that a huge share of unplanned downtime comes from equipment failures that could have been anticipated. Most factories still rely on reactive maintenance — fixing things after they break — or fixed-interval maintenance, which wastes time and parts on machines that didn't need service yet. What's missing is a system that continuously watches sensor data and tells the team, in advance, which machine is at risk and why.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four main objectives. First, predict failures early — within a 24-hour window. Second, go beyond a simple yes/no and classify exactly which type of failure is likely, so technicians know what to prepare for. Third, automate the entire pipeline from raw data to alert, removing manual steps. And fourth, make the output genuinely actionable — not just a number, but a clear recommendation and a live dashboard the team can trust.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architecture. Sensor data lands in Google Sheets. n8n orchestrates the workflow, pulling that data on a schedule. FastAPI serves the two trained ML models and returns predictions. An AI agent — built on Gemini or OpenAI — interprets those predictions into human-readable maintenance recommendations. Finally, Telegram pushes real-time alerts to technicians while Power BI gives management a live dashboard of machine health and KPIs. Everything after the raw sensor reading is fully automated.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combines nine sensor and operational features per machine reading — vibration, motor temperature, current, pressure, RPM, operating mode, time since last maintenance, ambient temperature, and machine type. These were chosen because they map directly to physical failure mechanisms: vibration and RPM catch bearing issues, current catches electrical faults, pressure catches hydraulic problems, and temperature catches motor overheating.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training, raw sensor data goes through four preprocessing stages. First we clean it — removing duplicates, handling missing readings, and filtering sensor noise. Then we encode categorical fields like machine type and operating mode into numbers models can use. Next we scale the numerical features so no single sensor dominates just because of its unit range. Finally, we split the data into training and testing sets, keeping the failure classes balanced across both. Pandas handles the heavy lifting for cleaning, and Scikit-Learn handles encoding, scaling, and splitting.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models working together. The first is a binary Failure Prediction model — it outputs 0 for normal operation or 1 for failure risk within the next 24 hours. We evaluated Random Forest, Gradient Boosting, and Logistic Regression as a baseline. The second model only runs when risk is flagged: it's a multi-class Failure Type Classifier that identifies whether it's a bearing, electrical, hydraulic, or motor overheating issue — or none. We used Random Forest here for its strong performance and interpretability on tabular sensor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models were evaluated using accuracy, precision, recall, and F1-score on a held-out test set, with stratified k-fold cross-validation to handle the natural imbalance between normal and failure cases. The Failure Prediction model reached about 94% accuracy with 88% recall, and the Failure Type Classifier reached about 91% accuracy. We deliberately prioritized recall over precision, because in this domain a missed real failure is far more costly than an occasional false alarm.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n8n is the orchestration layer that ties everything together. On a schedule, it reads the latest sensor rows from Google Sheets, calls the FastAPI prediction endpoint, and routes the result: if risk is detected, it triggers the AI agent for a recommendation and fires off Telegram and Power BI updates; if not, it simply logs the normal reading. We chose n8n because it's visual and no-code, has native integrations for every service we use, and cleanly decouples automation logic from the ML service.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ML models produce a prediction, that structured output — machine ID, risk flag, failure type, sensor trend — is passed to an AI agent built on Gemini or OpenAI. The agent doesn't replace the ML models; it interprets their output using a domain-specific prompt and the machine's context, turning raw numbers into a plain-language explanation, a likely root cause, a concrete recommended action, and an urgency level. This is what makes the alert genuinely useful to a technician rather than just a number.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BI ties the whole system together for management. It shows live KPIs — machines monitored, active risk alerts, overall prediction accuracy, and average time-to-alert. Below that, trend charts let you drill into a specific machine's vibration history, and a breakdown of failure types over the last month helps the team spot recurring problems, like a bearing issue that keeps showing up across the fleet.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shows that a predictive maintenance system doesn't need to be a black box locked away in a data science notebook. By combining two well-scoped ML models with FastAPI, n8n, an AI agent, Telegram, and Power BI, we built a complete pipeline that takes raw sensor readings and turns them into a specific, actionable alert on a technician's phone within minutes — shifting maintenance from reactive to proactive. Thank you, and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ransition spd="slow">
    <p:push dir="u"/>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826"/>
        </a:solidFill>
        <a:effectLst/>
      </p:bgPr>
    </p:bg>
    <p:spTree>
      <p:nvGrpSpPr>
        <p:cNvPr id="1" name=""/>
        <p:cNvGrpSpPr/>
        <p:nvPr/>
      </p:nvGrpSpPr>
      <p:grpSpPr>
        <a:xfrm>
          <a:off x="0" y="0"/>
          <a:ext cx="0" cy="0"/>
          <a:chOff x="0" y="0"/>
          <a:chExt cx="0" cy="0"/>
        </a:xfrm>
      </p:grpSpPr>
      <p:sp>
        <p:nvSpPr>
          <p:cNvPr id="2" name="Shape 0"/>
          <p:cNvSpPr/>
          <p:nvPr/>
        </p:nvSpPr>
        <p:spPr>
          <a:xfrm>
            <a:off x="9692640" y="-1280160"/>
            <a:ext cx="4114800" cy="4114800"/>
          </a:xfrm>
          <a:prstGeom prst="ellipse">
            <a:avLst/>
          </a:prstGeom>
          <a:solidFill>
            <a:srgbClr val="1B2438"/>
          </a:solidFill>
          <a:ln/>
        </p:spPr>
        <p:txBody>
          <a:bodyPr/>
          <a:p/>
        </p:txBody>
      </p:sp>
      <p:sp>
        <p:nvSpPr>
          <p:cNvPr id="3" name="Shape 1"/>
          <p:cNvSpPr/>
          <p:nvPr/>
        </p:nvSpPr>
        <p:spPr>
          <a:xfrm>
            <a:off x="10881360" y="3840480"/>
            <a:ext cx="2926080" cy="2926080"/>
          </a:xfrm>
          <a:prstGeom prst="ellipse">
            <a:avLst/>
          </a:prstGeom>
          <a:solidFill>
            <a:srgbClr val="232D42"/>
          </a:solidFill>
          <a:ln/>
        </p:spPr>
        <p:txBody>
          <a:bodyPr/>
          <a:p/>
        </p:txBody>
      </p:sp>
      <p:sp>
        <p:nvSpPr>
          <p:cNvPr id="4" name="Shape 2"/>
          <p:cNvSpPr/>
          <p:nvPr/>
        </p:nvSpPr>
        <p:spPr>
          <a:xfrm>
            <a:off x="-1097280" y="4937760"/>
            <a:ext cx="3108960" cy="3108960"/>
          </a:xfrm>
          <a:prstGeom prst="ellipse">
            <a:avLst/>
          </a:prstGeom>
          <a:solidFill>
            <a:srgbClr val="1B2438"/>
          </a:solidFill>
          <a:ln/>
        </p:spPr>
        <p:txBody>
          <a:bodyPr/>
          <a:p/>
        </p:txBody>
      </p:sp>
      <p:sp>
        <p:nvSpPr>
          <p:cNvPr id="5" name="Text 3"/>
          <p:cNvSpPr/>
          <p:nvPr/>
        </p:nvSpPr>
        <p:spPr>
          <a:xfrm>
            <a:off x="822960" y="1417320"/>
            <a:ext cx="7315200" cy="365760"/>
          </a:xfrm>
          <a:prstGeom prst="rect">
            <a:avLst/>
          </a:prstGeom>
          <a:noFill/>
          <a:ln/>
        </p:spPr>
        <p:txBody>
          <a:bodyPr wrap="square" lIns="0" tIns="0" rIns="0" bIns="0" rtlCol="0" anchor="ctr"/>
          <a:lstStyle/>
          <a:p>
            <a:pPr marL="0" indent="0">
              <a:buNone/>
            </a:pPr>
            <a:endParaRPr lang="en-US" sz="1300" dirty="0"/>
          </a:p>
        </p:txBody>
      </p:sp>
      <p:sp>
        <p:nvSpPr>
          <p:cNvPr id="6" name="Text 4"/>
          <p:cNvSpPr/>
          <p:nvPr/>
        </p:nvSpPr>
        <p:spPr>
          <a:xfrm>
            <a:off x="777240" y="1874520"/>
            <a:ext cx="8778240" cy="1920240"/>
          </a:xfrm>
          <a:prstGeom prst="rect">
            <a:avLst/>
          </a:prstGeom>
          <a:noFill/>
          <a:ln/>
        </p:spPr>
        <p:txBody>
          <a:bodyPr wrap="square" lIns="0" tIns="0" rIns="0" bIns="0" rtlCol="0" anchor="ctr"/>
          <a:lstStyle/>
          <a:p>
            <a:pPr marL="0" indent="0">
              <a:lnSpc>
                <a:spcPct val="105000"/>
              </a:lnSpc>
              <a:buNone/>
            </a:pPr>
            <a:r>
              <a:rPr lang="en-US" sz="4600" b="1" dirty="0" smtClean="0">
                <a:solidFill>
                  <a:srgbClr val="FFFFFF"/>
                </a:solidFill>
                <a:latin typeface="Cambria" pitchFamily="34" charset="0"/>
                <a:ea typeface="Cambria" pitchFamily="34" charset="-122"/>
                <a:cs typeface="Cambria" pitchFamily="34" charset="-120"/>
              </a:rPr>
              <a:t> Predictive Maintenance </a:t>
            </a:r>
            <a:r>
              <a:rPr lang="en-US" sz="4600" b="1" dirty="0">
                <a:solidFill>
                  <a:srgbClr val="FFFFFF"/>
                </a:solidFill>
                <a:latin typeface="Cambria" pitchFamily="34" charset="0"/>
                <a:ea typeface="Cambria" pitchFamily="34" charset="-122"/>
                <a:cs typeface="Cambria" pitchFamily="34" charset="-120"/>
              </a:rPr>
              <a:t>System</a:t>
            </a:r>
            <a:endParaRPr lang="en-US" sz="4600" dirty="0"/>
          </a:p>
        </p:txBody>
      </p:sp>
      <p:sp>
        <p:nvSpPr>
          <p:cNvPr id="7" name="Text 5"/>
          <p:cNvSpPr/>
          <p:nvPr/>
        </p:nvSpPr>
        <p:spPr>
          <a:xfrm>
            <a:off x="822960" y="3703320"/>
            <a:ext cx="8229600" cy="548640"/>
          </a:xfrm>
          <a:prstGeom prst="rect">
            <a:avLst/>
          </a:prstGeom>
          <a:noFill/>
          <a:ln/>
        </p:spPr>
        <p:txBody>
          <a:bodyPr wrap="square" lIns="0" tIns="0" rIns="0" bIns="0" rtlCol="0" anchor="ctr"/>
          <a:lstStyle/>
          <a:p>
            <a:pPr marL="0" indent="0">
              <a:buNone/>
            </a:pPr>
            <a:r>
              <a:rPr lang="en-US" sz="2000" i="1" dirty="0">
                <a:solidFill>
                  <a:srgbClr val="6FA8C7"/>
                </a:solidFill>
                <a:latin typeface="Calibri" pitchFamily="34" charset="0"/>
                <a:ea typeface="Calibri" pitchFamily="34" charset="-122"/>
                <a:cs typeface="Calibri" pitchFamily="34" charset="-120"/>
              </a:rPr>
              <a:t>for Industrial Machines</a:t>
            </a:r>
            <a:endParaRPr lang="en-US" sz="2000" dirty="0"/>
          </a:p>
        </p:txBody>
      </p:sp>
      <p:sp>
        <p:nvSpPr>
          <p:cNvPr id="8" name="Shape 6"/>
          <p:cNvSpPr/>
          <p:nvPr/>
        </p:nvSpPr>
        <p:spPr>
          <a:xfrm>
            <a:off x="822960" y="4434840"/>
            <a:ext cx="2743200" cy="0"/>
          </a:xfrm>
          <a:prstGeom prst="line">
            <a:avLst/>
          </a:prstGeom>
          <a:noFill/>
          <a:ln w="25400">
            <a:solidFill>
              <a:srgbClr val="3B6E8F"/>
            </a:solidFill>
            <a:prstDash val="solid"/>
          </a:ln>
        </p:spPr>
        <p:txBody>
          <a:bodyPr/>
          <a:p/>
        </p:txBody>
      </p:sp>
      <p:sp>
        <p:nvSpPr>
          <p:cNvPr id="9" name="Text 7"/>
          <p:cNvSpPr/>
          <p:nvPr/>
        </p:nvSpPr>
        <p:spPr>
          <a:xfrm>
            <a:off x="822960" y="4617720"/>
            <a:ext cx="6949440" cy="640080"/>
          </a:xfrm>
          <a:prstGeom prst="rect">
            <a:avLst/>
          </a:prstGeom>
          <a:noFill/>
          <a:ln/>
        </p:spPr>
        <p:txBody>
          <a:bodyPr wrap="square" lIns="0" tIns="0" rIns="0" bIns="0" rtlCol="0" anchor="ctr"/>
          <a:lstStyle/>
          <a:p>
            <a:pPr marL="0" indent="0">
              <a:buNone/>
            </a:pPr>
            <a:r>
              <a:rPr lang="en-US" sz="1400" dirty="0">
                <a:solidFill>
                  <a:srgbClr val="AEB8C4"/>
                </a:solidFill>
                <a:latin typeface="Calibri" pitchFamily="34" charset="0"/>
                <a:ea typeface="Calibri" pitchFamily="34" charset="-122"/>
                <a:cs typeface="Calibri" pitchFamily="34" charset="-120"/>
              </a:rPr>
              <a:t>Forecasting machine failures 24 hours ahead using sensor data, machine learning, and intelligent automation.</a:t>
            </a:r>
            <a:endParaRPr lang="en-US" sz="1400" dirty="0"/>
          </a:p>
        </p:txBody>
      </p:sp>
      <p:sp>
        <p:nvSpPr>
          <p:cNvPr id="10" name="Shape 8"/>
          <p:cNvSpPr/>
          <p:nvPr/>
        </p:nvSpPr>
        <p:spPr>
          <a:xfrm>
            <a:off x="822960" y="5806440"/>
            <a:ext cx="1335024" cy="384048"/>
          </a:xfrm>
          <a:prstGeom prst="roundRect">
            <a:avLst>
              <a:gd name="adj" fmla="val 119048"/>
            </a:avLst>
          </a:prstGeom>
          <a:solidFill>
            <a:srgbClr val="1B2438"/>
          </a:solidFill>
          <a:ln w="12700">
            <a:solidFill>
              <a:srgbClr val="2C3750"/>
            </a:solidFill>
            <a:prstDash val="solid"/>
          </a:ln>
        </p:spPr>
        <p:txBody>
          <a:bodyPr/>
          <a:p/>
        </p:txBody>
      </p:sp>
      <p:sp>
        <p:nvSpPr>
          <p:cNvPr id="11" name="Text 9"/>
          <p:cNvSpPr/>
          <p:nvPr/>
        </p:nvSpPr>
        <p:spPr>
          <a:xfrm>
            <a:off x="822960" y="5806440"/>
            <a:ext cx="1335024" cy="384048"/>
          </a:xfrm>
          <a:prstGeom prst="rect">
            <a:avLst/>
          </a:prstGeom>
          <a:noFill/>
          <a:ln/>
        </p:spPr>
        <p:txBody>
          <a:bodyPr wrap="square" lIns="0" tIns="0" rIns="0" bIns="0" rtlCol="0" anchor="ctr"/>
          <a:lstStyle/>
          <a:p>
            <a:pPr marL="0" indent="0" algn="ctr">
              <a:buNone/>
            </a:pPr>
            <a:r>
              <a:rPr lang="en-US" sz="1050" b="1" dirty="0">
                <a:solidFill>
                  <a:srgbClr val="6FA8C7"/>
                </a:solidFill>
                <a:latin typeface="Calibri" pitchFamily="34" charset="0"/>
                <a:ea typeface="Calibri" pitchFamily="34" charset="-122"/>
                <a:cs typeface="Calibri" pitchFamily="34" charset="-120"/>
              </a:rPr>
              <a:t>Python</a:t>
            </a:r>
            <a:endParaRPr lang="en-US" sz="1050" dirty="0"/>
          </a:p>
        </p:txBody>
      </p:sp>
      <p:sp>
        <p:nvSpPr>
          <p:cNvPr id="12" name="Shape 10"/>
          <p:cNvSpPr/>
          <p:nvPr/>
        </p:nvSpPr>
        <p:spPr>
          <a:xfrm>
            <a:off x="2295144" y="5806440"/>
            <a:ext cx="2212848" cy="384048"/>
          </a:xfrm>
          <a:prstGeom prst="roundRect">
            <a:avLst>
              <a:gd name="adj" fmla="val 119048"/>
            </a:avLst>
          </a:prstGeom>
          <a:solidFill>
            <a:srgbClr val="1B2438"/>
          </a:solidFill>
          <a:ln w="12700">
            <a:solidFill>
              <a:srgbClr val="2C3750"/>
            </a:solidFill>
            <a:prstDash val="solid"/>
          </a:ln>
        </p:spPr>
        <p:txBody>
          <a:bodyPr/>
          <a:p/>
        </p:txBody>
      </p:sp>
      <p:sp>
        <p:nvSpPr>
          <p:cNvPr id="13" name="Text 11"/>
          <p:cNvSpPr/>
          <p:nvPr/>
        </p:nvSpPr>
        <p:spPr>
          <a:xfrm>
            <a:off x="2295144" y="5806440"/>
            <a:ext cx="2212848" cy="384048"/>
          </a:xfrm>
          <a:prstGeom prst="rect">
            <a:avLst/>
          </a:prstGeom>
          <a:noFill/>
          <a:ln/>
        </p:spPr>
        <p:txBody>
          <a:bodyPr wrap="square" lIns="0" tIns="0" rIns="0" bIns="0" rtlCol="0" anchor="ctr"/>
          <a:lstStyle/>
          <a:p>
            <a:pPr marL="0" indent="0" algn="ctr">
              <a:buNone/>
            </a:pPr>
            <a:r>
              <a:rPr lang="en-US" sz="1050" b="1" dirty="0">
                <a:solidFill>
                  <a:srgbClr val="6FA8C7"/>
                </a:solidFill>
                <a:latin typeface="Calibri" pitchFamily="34" charset="0"/>
                <a:ea typeface="Calibri" pitchFamily="34" charset="-122"/>
                <a:cs typeface="Calibri" pitchFamily="34" charset="-120"/>
              </a:rPr>
              <a:t>Scikit-Learn</a:t>
            </a:r>
            <a:endParaRPr lang="en-US" sz="1050" dirty="0"/>
          </a:p>
        </p:txBody>
      </p:sp>
      <p:sp>
        <p:nvSpPr>
          <p:cNvPr id="14" name="Shape 12"/>
          <p:cNvSpPr/>
          <p:nvPr/>
        </p:nvSpPr>
        <p:spPr>
          <a:xfrm>
            <a:off x="4645152" y="5806440"/>
            <a:ext cx="1481328" cy="384048"/>
          </a:xfrm>
          <a:prstGeom prst="roundRect">
            <a:avLst>
              <a:gd name="adj" fmla="val 119048"/>
            </a:avLst>
          </a:prstGeom>
          <a:solidFill>
            <a:srgbClr val="1B2438"/>
          </a:solidFill>
          <a:ln w="12700">
            <a:solidFill>
              <a:srgbClr val="2C3750"/>
            </a:solidFill>
            <a:prstDash val="solid"/>
          </a:ln>
        </p:spPr>
        <p:txBody>
          <a:bodyPr/>
          <a:p/>
        </p:txBody>
      </p:sp>
      <p:sp>
        <p:nvSpPr>
          <p:cNvPr id="15" name="Text 13"/>
          <p:cNvSpPr/>
          <p:nvPr/>
        </p:nvSpPr>
        <p:spPr>
          <a:xfrm>
            <a:off x="4645152" y="5806440"/>
            <a:ext cx="1481328" cy="384048"/>
          </a:xfrm>
          <a:prstGeom prst="rect">
            <a:avLst/>
          </a:prstGeom>
          <a:noFill/>
          <a:ln/>
        </p:spPr>
        <p:txBody>
          <a:bodyPr wrap="square" lIns="0" tIns="0" rIns="0" bIns="0" rtlCol="0" anchor="ctr"/>
          <a:lstStyle/>
          <a:p>
            <a:pPr marL="0" indent="0" algn="ctr">
              <a:buNone/>
            </a:pPr>
            <a:r>
              <a:rPr lang="en-US" sz="1050" b="1" dirty="0">
                <a:solidFill>
                  <a:srgbClr val="6FA8C7"/>
                </a:solidFill>
                <a:latin typeface="Calibri" pitchFamily="34" charset="0"/>
                <a:ea typeface="Calibri" pitchFamily="34" charset="-122"/>
                <a:cs typeface="Calibri" pitchFamily="34" charset="-120"/>
              </a:rPr>
              <a:t>FastAPI</a:t>
            </a:r>
            <a:endParaRPr lang="en-US" sz="1050" dirty="0"/>
          </a:p>
        </p:txBody>
      </p:sp>
      <p:sp>
        <p:nvSpPr>
          <p:cNvPr id="16" name="Shape 14"/>
          <p:cNvSpPr/>
          <p:nvPr/>
        </p:nvSpPr>
        <p:spPr>
          <a:xfrm>
            <a:off x="6263640" y="5806440"/>
            <a:ext cx="896112" cy="384048"/>
          </a:xfrm>
          <a:prstGeom prst="roundRect">
            <a:avLst>
              <a:gd name="adj" fmla="val 119048"/>
            </a:avLst>
          </a:prstGeom>
          <a:solidFill>
            <a:srgbClr val="1B2438"/>
          </a:solidFill>
          <a:ln w="12700">
            <a:solidFill>
              <a:srgbClr val="2C3750"/>
            </a:solidFill>
            <a:prstDash val="solid"/>
          </a:ln>
        </p:spPr>
        <p:txBody>
          <a:bodyPr/>
          <a:p/>
        </p:txBody>
      </p:sp>
      <p:sp>
        <p:nvSpPr>
          <p:cNvPr id="17" name="Text 15"/>
          <p:cNvSpPr/>
          <p:nvPr/>
        </p:nvSpPr>
        <p:spPr>
          <a:xfrm>
            <a:off x="6263640" y="5806440"/>
            <a:ext cx="896112" cy="384048"/>
          </a:xfrm>
          <a:prstGeom prst="rect">
            <a:avLst/>
          </a:prstGeom>
          <a:noFill/>
          <a:ln/>
        </p:spPr>
        <p:txBody>
          <a:bodyPr wrap="square" lIns="0" tIns="0" rIns="0" bIns="0" rtlCol="0" anchor="ctr"/>
          <a:lstStyle/>
          <a:p>
            <a:pPr marL="0" indent="0" algn="ctr">
              <a:buNone/>
            </a:pPr>
            <a:r>
              <a:rPr lang="en-US" sz="1050" b="1" dirty="0">
                <a:solidFill>
                  <a:srgbClr val="6FA8C7"/>
                </a:solidFill>
                <a:latin typeface="Calibri" pitchFamily="34" charset="0"/>
                <a:ea typeface="Calibri" pitchFamily="34" charset="-122"/>
                <a:cs typeface="Calibri" pitchFamily="34" charset="-120"/>
              </a:rPr>
              <a:t>n8n</a:t>
            </a:r>
            <a:endParaRPr lang="en-US" sz="1050" dirty="0"/>
          </a:p>
        </p:txBody>
      </p:sp>
      <p:sp>
        <p:nvSpPr>
          <p:cNvPr id="18" name="Shape 16"/>
          <p:cNvSpPr/>
          <p:nvPr/>
        </p:nvSpPr>
        <p:spPr>
          <a:xfrm>
            <a:off x="7296912" y="5806440"/>
            <a:ext cx="1627632" cy="384048"/>
          </a:xfrm>
          <a:prstGeom prst="roundRect">
            <a:avLst>
              <a:gd name="adj" fmla="val 119048"/>
            </a:avLst>
          </a:prstGeom>
          <a:solidFill>
            <a:srgbClr val="1B2438"/>
          </a:solidFill>
          <a:ln w="12700">
            <a:solidFill>
              <a:srgbClr val="2C3750"/>
            </a:solidFill>
            <a:prstDash val="solid"/>
          </a:ln>
        </p:spPr>
        <p:txBody>
          <a:bodyPr/>
          <a:p/>
        </p:txBody>
      </p:sp>
      <p:sp>
        <p:nvSpPr>
          <p:cNvPr id="19" name="Text 17"/>
          <p:cNvSpPr/>
          <p:nvPr/>
        </p:nvSpPr>
        <p:spPr>
          <a:xfrm>
            <a:off x="7296912" y="5806440"/>
            <a:ext cx="1627632" cy="384048"/>
          </a:xfrm>
          <a:prstGeom prst="rect">
            <a:avLst/>
          </a:prstGeom>
          <a:noFill/>
          <a:ln/>
        </p:spPr>
        <p:txBody>
          <a:bodyPr wrap="square" lIns="0" tIns="0" rIns="0" bIns="0" rtlCol="0" anchor="ctr"/>
          <a:lstStyle/>
          <a:p>
            <a:pPr marL="0" indent="0" algn="ctr">
              <a:buNone/>
            </a:pPr>
            <a:r>
              <a:rPr lang="en-US" sz="1050" b="1" dirty="0">
                <a:solidFill>
                  <a:srgbClr val="6FA8C7"/>
                </a:solidFill>
                <a:latin typeface="Calibri" pitchFamily="34" charset="0"/>
                <a:ea typeface="Calibri" pitchFamily="34" charset="-122"/>
                <a:cs typeface="Calibri" pitchFamily="34" charset="-120"/>
              </a:rPr>
              <a:t>Telegram</a:t>
            </a:r>
            <a:endParaRPr lang="en-US" sz="1050" dirty="0"/>
          </a:p>
        </p:txBody>
      </p:sp>
      <p:sp>
        <p:nvSpPr>
          <p:cNvPr id="20" name="Shape 18"/>
          <p:cNvSpPr/>
          <p:nvPr/>
        </p:nvSpPr>
        <p:spPr>
          <a:xfrm>
            <a:off x="9061704" y="5806440"/>
            <a:ext cx="1627632" cy="384048"/>
          </a:xfrm>
          <a:prstGeom prst="roundRect">
            <a:avLst>
              <a:gd name="adj" fmla="val 119048"/>
            </a:avLst>
          </a:prstGeom>
          <a:solidFill>
            <a:srgbClr val="1B2438"/>
          </a:solidFill>
          <a:ln w="12700">
            <a:solidFill>
              <a:srgbClr val="2C3750"/>
            </a:solidFill>
            <a:prstDash val="solid"/>
          </a:ln>
        </p:spPr>
        <p:txBody>
          <a:bodyPr/>
          <a:p/>
        </p:txBody>
      </p:sp>
      <p:sp>
        <p:nvSpPr>
          <p:cNvPr id="21" name="Text 19"/>
          <p:cNvSpPr/>
          <p:nvPr/>
        </p:nvSpPr>
        <p:spPr>
          <a:xfrm>
            <a:off x="9061704" y="5806440"/>
            <a:ext cx="1627632" cy="384048"/>
          </a:xfrm>
          <a:prstGeom prst="rect">
            <a:avLst/>
          </a:prstGeom>
          <a:noFill/>
          <a:ln/>
        </p:spPr>
        <p:txBody>
          <a:bodyPr wrap="square" lIns="0" tIns="0" rIns="0" bIns="0" rtlCol="0" anchor="ctr"/>
          <a:lstStyle/>
          <a:p>
            <a:pPr marL="0" indent="0" algn="ctr">
              <a:buNone/>
            </a:pPr>
            <a:r>
              <a:rPr lang="en-US" sz="1050" b="1" dirty="0">
                <a:solidFill>
                  <a:srgbClr val="6FA8C7"/>
                </a:solidFill>
                <a:latin typeface="Calibri" pitchFamily="34" charset="0"/>
                <a:ea typeface="Calibri" pitchFamily="34" charset="-122"/>
                <a:cs typeface="Calibri" pitchFamily="34" charset="-120"/>
              </a:rPr>
              <a:t>Power BI</a:t>
            </a:r>
            <a:endParaRPr lang="en-US" sz="1050" dirty="0"/>
          </a:p>
        </p:txBody>
      </p:sp>
      <p:sp>
        <p:nvSpPr>
          <p:cNvPr id="22" name="Shape 20"/>
          <p:cNvSpPr/>
          <p:nvPr/>
        </p:nvSpPr>
        <p:spPr>
          <a:xfrm>
            <a:off x="10826496" y="5806440"/>
            <a:ext cx="2359152" cy="384048"/>
          </a:xfrm>
          <a:prstGeom prst="roundRect">
            <a:avLst>
              <a:gd name="adj" fmla="val 119048"/>
            </a:avLst>
          </a:prstGeom>
          <a:solidFill>
            <a:srgbClr val="1B2438"/>
          </a:solidFill>
          <a:ln w="12700">
            <a:solidFill>
              <a:srgbClr val="2C3750"/>
            </a:solidFill>
            <a:prstDash val="solid"/>
          </a:ln>
        </p:spPr>
        <p:txBody>
          <a:bodyPr/>
          <a:p/>
        </p:txBody>
      </p:sp>
      <p:sp>
        <p:nvSpPr>
          <p:cNvPr id="23" name="Text 21"/>
          <p:cNvSpPr/>
          <p:nvPr/>
        </p:nvSpPr>
        <p:spPr>
          <a:xfrm>
            <a:off x="10826496" y="5806440"/>
            <a:ext cx="2359152" cy="384048"/>
          </a:xfrm>
          <a:prstGeom prst="rect">
            <a:avLst/>
          </a:prstGeom>
          <a:noFill/>
          <a:ln/>
        </p:spPr>
        <p:txBody>
          <a:bodyPr wrap="square" lIns="0" tIns="0" rIns="0" bIns="0" rtlCol="0" anchor="ctr"/>
          <a:lstStyle/>
          <a:p>
            <a:pPr marL="0" indent="0" algn="ctr">
              <a:buNone/>
            </a:pPr>
            <a:r>
              <a:rPr lang="en-US" sz="1050" b="1" dirty="0">
                <a:solidFill>
                  <a:srgbClr val="6FA8C7"/>
                </a:solidFill>
                <a:latin typeface="Calibri" pitchFamily="34" charset="0"/>
                <a:ea typeface="Calibri" pitchFamily="34" charset="-122"/>
                <a:cs typeface="Calibri" pitchFamily="34" charset="-120"/>
              </a:rPr>
              <a:t>Gemini/OpenAI</a:t>
            </a:r>
            <a:endParaRPr lang="en-US" sz="1050" dirty="0"/>
          </a:p>
        </p:txBody>
      </p:sp>
      <p:sp>
        <p:nvSpPr>
          <p:cNvPr id="24" name="Text 22"/>
          <p:cNvSpPr/>
          <p:nvPr/>
        </p:nvSpPr>
        <p:spPr>
          <a:xfrm>
            <a:off x="822960" y="6400800"/>
            <a:ext cx="9144000" cy="320040"/>
          </a:xfrm>
          <a:prstGeom prst="rect">
            <a:avLst/>
          </a:prstGeom>
          <a:noFill/>
          <a:ln/>
        </p:spPr>
        <p:txBody>
          <a:bodyPr wrap="square" lIns="0" tIns="0" rIns="0" bIns="0" rtlCol="0" anchor="ctr"/>
          <a:lstStyle/>
          <a:p>
            <a:pPr marL="0" indent="0">
              <a:buNone/>
            </a:pPr>
            <a:r>
              <a:rPr lang="en-US" sz="1100" dirty="0">
                <a:solidFill>
                  <a:srgbClr val="AEB8C4"/>
                </a:solidFill>
                <a:latin typeface="Calibri" pitchFamily="34" charset="0"/>
                <a:ea typeface="Calibri" pitchFamily="34" charset="-122"/>
                <a:cs typeface="Calibri" pitchFamily="34" charset="-120"/>
              </a:rPr>
              <a:t>Customized implementation by: Ali Faiz</a:t>
            </a:r>
            <a:r>
              <a:rPr lang="en-US" sz="1100" dirty="0" smtClean="0">
                <a:solidFill>
                  <a:srgbClr val="AEB8C4"/>
                </a:solidFill>
                <a:latin typeface="Calibri" pitchFamily="34" charset="0"/>
                <a:ea typeface="Calibri" pitchFamily="34" charset="-122"/>
                <a:cs typeface="Calibri" pitchFamily="34" charset="-120"/>
              </a:rPr>
              <a:t/>
            </a:r>
            <a:r>
              <a:rPr lang="en-US" sz="1100" dirty="0" err="1" smtClean="0">
                <a:solidFill>
                  <a:srgbClr val="AEB8C4"/>
                </a:solidFill>
                <a:latin typeface="Calibri" pitchFamily="34" charset="0"/>
                <a:ea typeface="Calibri" pitchFamily="34" charset="-122"/>
                <a:cs typeface="Calibri" pitchFamily="34" charset="-120"/>
              </a:rPr>
              <a:t/>
            </a:r>
            <a:r>
              <a:rPr lang="en-US" sz="1100" dirty="0" smtClean="0">
                <a:solidFill>
                  <a:srgbClr val="AEB8C4"/>
                </a:solidFill>
                <a:latin typeface="Calibri" pitchFamily="34" charset="0"/>
                <a:ea typeface="Calibri" pitchFamily="34" charset="-122"/>
                <a:cs typeface="Calibri" pitchFamily="34" charset="-120"/>
              </a:rPr>
              <a:t/>
            </a:r>
            <a:r>
              <a:rPr lang="en-US" sz="1100" dirty="0" err="1" smtClean="0">
                <a:solidFill>
                  <a:srgbClr val="AEB8C4"/>
                </a:solidFill>
                <a:latin typeface="Calibri" pitchFamily="34" charset="0"/>
                <a:ea typeface="Calibri" pitchFamily="34" charset="-122"/>
                <a:cs typeface="Calibri" pitchFamily="34" charset="-120"/>
              </a:rPr>
              <a:t/>
            </a:r>
            <a:r>
              <a:rPr lang="en-US" sz="1100" dirty="0" smtClean="0">
                <a:solidFill>
                  <a:srgbClr val="AEB8C4"/>
                </a:solidFill>
                <a:latin typeface="Calibri" pitchFamily="34" charset="0"/>
                <a:ea typeface="Calibri" pitchFamily="34" charset="-122"/>
                <a:cs typeface="Calibri" pitchFamily="34" charset="-120"/>
              </a:rPr>
              <a:t/>
            </a:r>
            <a:r>
              <a:rPr lang="en-US" sz="1100" dirty="0" err="1" smtClean="0">
                <a:solidFill>
                  <a:srgbClr val="AEB8C4"/>
                </a:solidFill>
                <a:latin typeface="Calibri" pitchFamily="34" charset="0"/>
                <a:ea typeface="Calibri" pitchFamily="34" charset="-122"/>
                <a:cs typeface="Calibri" pitchFamily="34" charset="-120"/>
              </a:rPr>
              <a:t/>
            </a:r>
            <a:r>
              <a:rPr lang="en-US" sz="1100" dirty="0" smtClean="0">
                <a:solidFill>
                  <a:srgbClr val="AEB8C4"/>
                </a:solidFill>
                <a:latin typeface="Calibri" pitchFamily="34" charset="0"/>
                <a:ea typeface="Calibri" pitchFamily="34" charset="-122"/>
                <a:cs typeface="Calibri" pitchFamily="34" charset="-120"/>
              </a:rPr>
              <a:t/>
            </a:r>
            <a:endParaRPr lang="en-US" sz="1100" dirty="0"/>
          </a:p>
        </p:txBody>
      </p:sp>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3B6E8F"/>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121826"/>
                </a:solidFill>
                <a:latin typeface="Cambria" pitchFamily="34" charset="0"/>
                <a:ea typeface="Cambria" pitchFamily="34" charset="-122"/>
                <a:cs typeface="Cambria" pitchFamily="34" charset="-120"/>
              </a:rPr>
              <a:t>Unplanned Downtime Is Costing Factories</a:t>
            </a:r>
            <a:endParaRPr lang="en-US" sz="3200" dirty="0"/>
          </a:p>
        </p:txBody>
      </p:sp>
      <p:sp>
        <p:nvSpPr>
          <p:cNvPr id="4" name="Text 2"/>
          <p:cNvSpPr/>
          <p:nvPr/>
        </p:nvSpPr>
        <p:spPr>
          <a:xfrm>
            <a:off x="548640" y="1600200"/>
            <a:ext cx="6309360" cy="4206240"/>
          </a:xfrm>
          <a:prstGeom prst="rect">
            <a:avLst/>
          </a:prstGeom>
          <a:noFill/>
          <a:ln/>
        </p:spPr>
        <p:txBody>
          <a:bodyPr wrap="square" lIns="0" tIns="0" rIns="0" bIns="0" rtlCol="0" anchor="t"/>
          <a:lstStyle/>
          <a:p>
            <a:pPr marL="228600" indent="-228600">
              <a:lnSpc>
                <a:spcPct val="110000"/>
              </a:lnSpc>
              <a:spcAft>
                <a:spcPts val="1400"/>
              </a:spcAft>
              <a:buSzPct val="100000"/>
              <a:buChar char="▪"/>
            </a:pPr>
            <a:r>
              <a:rPr lang="en-US" sz="1500" dirty="0">
                <a:solidFill>
                  <a:srgbClr val="121826"/>
                </a:solidFill>
                <a:latin typeface="Calibri" pitchFamily="34" charset="0"/>
                <a:ea typeface="Calibri" pitchFamily="34" charset="-122"/>
                <a:cs typeface="Calibri" pitchFamily="34" charset="-120"/>
              </a:rPr>
              <a:t>Industrial machines fail without warning, halting entire production lines.</a:t>
            </a:r>
            <a:endParaRPr lang="en-US" sz="1500" dirty="0"/>
          </a:p>
          <a:p>
            <a:pPr marL="228600" indent="-228600">
              <a:lnSpc>
                <a:spcPct val="110000"/>
              </a:lnSpc>
              <a:spcAft>
                <a:spcPts val="1400"/>
              </a:spcAft>
              <a:buSzPct val="100000"/>
              <a:buChar char="▪"/>
            </a:pPr>
            <a:r>
              <a:rPr lang="en-US" sz="1500" dirty="0">
                <a:solidFill>
                  <a:srgbClr val="121826"/>
                </a:solidFill>
                <a:latin typeface="Calibri" pitchFamily="34" charset="0"/>
                <a:ea typeface="Calibri" pitchFamily="34" charset="-122"/>
                <a:cs typeface="Calibri" pitchFamily="34" charset="-120"/>
              </a:rPr>
              <a:t>Traditional maintenance is either reactive (fix after failure) or fixed-schedule (wastes resources).</a:t>
            </a:r>
            <a:endParaRPr lang="en-US" sz="1500" dirty="0"/>
          </a:p>
          <a:p>
            <a:pPr marL="228600" indent="-228600">
              <a:lnSpc>
                <a:spcPct val="110000"/>
              </a:lnSpc>
              <a:spcAft>
                <a:spcPts val="1400"/>
              </a:spcAft>
              <a:buSzPct val="100000"/>
              <a:buChar char="▪"/>
            </a:pPr>
            <a:r>
              <a:rPr lang="en-US" sz="1500" dirty="0">
                <a:solidFill>
                  <a:srgbClr val="121826"/>
                </a:solidFill>
                <a:latin typeface="Calibri" pitchFamily="34" charset="0"/>
                <a:ea typeface="Calibri" pitchFamily="34" charset="-122"/>
                <a:cs typeface="Calibri" pitchFamily="34" charset="-120"/>
              </a:rPr>
              <a:t>Maintenance teams lack real-time visibility into machine health.</a:t>
            </a:r>
            <a:endParaRPr lang="en-US" sz="1500" dirty="0"/>
          </a:p>
          <a:p>
            <a:pPr marL="228600" indent="-228600">
              <a:lnSpc>
                <a:spcPct val="110000"/>
              </a:lnSpc>
              <a:spcAft>
                <a:spcPts val="1400"/>
              </a:spcAft>
              <a:buSzPct val="100000"/>
              <a:buChar char="▪"/>
            </a:pPr>
            <a:r>
              <a:rPr lang="en-US" sz="1500" dirty="0">
                <a:solidFill>
                  <a:srgbClr val="121826"/>
                </a:solidFill>
                <a:latin typeface="Calibri" pitchFamily="34" charset="0"/>
                <a:ea typeface="Calibri" pitchFamily="34" charset="-122"/>
                <a:cs typeface="Calibri" pitchFamily="34" charset="-120"/>
              </a:rPr>
              <a:t>Failures are diagnosed manually — slow, and prone to human error.</a:t>
            </a:r>
            <a:endParaRPr lang="en-US" sz="1500" dirty="0"/>
          </a:p>
          <a:p>
            <a:pPr marL="228600" indent="-228600">
              <a:lnSpc>
                <a:spcPct val="110000"/>
              </a:lnSpc>
              <a:spcAft>
                <a:spcPts val="1400"/>
              </a:spcAft>
              <a:buSzPct val="100000"/>
              <a:buChar char="▪"/>
            </a:pPr>
            <a:r>
              <a:rPr lang="en-US" sz="1500" dirty="0">
                <a:solidFill>
                  <a:srgbClr val="121826"/>
                </a:solidFill>
                <a:latin typeface="Calibri" pitchFamily="34" charset="0"/>
                <a:ea typeface="Calibri" pitchFamily="34" charset="-122"/>
                <a:cs typeface="Calibri" pitchFamily="34" charset="-120"/>
              </a:rPr>
              <a:t>There is no automated way to turn raw sensor data into an actionable alert.</a:t>
            </a:r>
            <a:endParaRPr lang="en-US" sz="1500" dirty="0"/>
          </a:p>
        </p:txBody>
      </p:sp>
      <p:sp>
        <p:nvSpPr>
          <p:cNvPr id="13" name="Text 11"/>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02</a:t>
            </a:r>
            <a:endParaRPr lang="en-US" sz="10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3B6E8F"/>
                </a:solidFill>
                <a:latin typeface="Calibri" pitchFamily="34" charset="0"/>
                <a:ea typeface="Calibri" pitchFamily="34" charset="-122"/>
                <a:cs typeface="Calibri" pitchFamily="34" charset="-120"/>
              </a:rPr>
              <a:t>GOALS</a:t>
            </a:r>
            <a:endParaRPr lang="en-US" sz="120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121826"/>
                </a:solidFill>
                <a:latin typeface="Cambria" pitchFamily="34" charset="0"/>
                <a:ea typeface="Cambria" pitchFamily="34" charset="-122"/>
                <a:cs typeface="Cambria" pitchFamily="34" charset="-120"/>
              </a:rPr>
              <a:t>Project Objectives</a:t>
            </a:r>
            <a:endParaRPr lang="en-US" sz="3200" dirty="0"/>
          </a:p>
        </p:txBody>
      </p:sp>
      <p:sp>
        <p:nvSpPr>
          <p:cNvPr id="4" name="Shape 2"/>
          <p:cNvSpPr/>
          <p:nvPr/>
        </p:nvSpPr>
        <p:spPr>
          <a:xfrm>
            <a:off x="548640" y="1691640"/>
            <a:ext cx="5440680" cy="1965960"/>
          </a:xfrm>
          <a:prstGeom prst="roundRect">
            <a:avLst>
              <a:gd name="adj" fmla="val 3721"/>
            </a:avLst>
          </a:prstGeom>
          <a:solidFill>
            <a:srgbClr val="FFFFFF"/>
          </a:solidFill>
          <a:ln w="12700">
            <a:solidFill>
              <a:srgbClr val="E2E6EC"/>
            </a:solidFill>
            <a:prstDash val="solid"/>
          </a:ln>
          <a:effectLst>
            <a:outerShdw blurRad="101600" dist="38100" dir="5400000" algn="bl" rotWithShape="0">
              <a:srgbClr val="0B0F17">
                <a:alpha val="35000"/>
              </a:srgbClr>
            </a:outerShdw>
          </a:effectLst>
        </p:spPr>
        <p:txBody>
          <a:bodyPr/>
          <a:p/>
        </p:txBody>
      </p:sp>
      <p:sp>
        <p:nvSpPr>
          <p:cNvPr id="5" name="Shape 3"/>
          <p:cNvSpPr/>
          <p:nvPr/>
        </p:nvSpPr>
        <p:spPr>
          <a:xfrm>
            <a:off x="822960" y="2011680"/>
            <a:ext cx="640080" cy="640080"/>
          </a:xfrm>
          <a:prstGeom prst="ellipse">
            <a:avLst/>
          </a:prstGeom>
          <a:solidFill>
            <a:srgbClr val="3B6E8F"/>
          </a:solidFill>
          <a:ln/>
        </p:spPr>
        <p:txBody>
          <a:bodyPr/>
          <a:p/>
        </p:txBody>
      </p:sp>
      <p:sp>
        <p:nvSpPr>
          <p:cNvPr id="6" name="Text 4"/>
          <p:cNvSpPr/>
          <p:nvPr/>
        </p:nvSpPr>
        <p:spPr>
          <a:xfrm>
            <a:off x="822960" y="2011680"/>
            <a:ext cx="640080" cy="640080"/>
          </a:xfrm>
          <a:prstGeom prst="rect">
            <a:avLst/>
          </a:prstGeom>
          <a:noFill/>
          <a:ln/>
        </p:spPr>
        <p:txBody>
          <a:bodyPr wrap="square" lIns="0" tIns="0" rIns="0" bIns="0"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1</a:t>
            </a:r>
            <a:endParaRPr lang="en-US" sz="1820" dirty="0"/>
          </a:p>
        </p:txBody>
      </p:sp>
      <p:sp>
        <p:nvSpPr>
          <p:cNvPr id="7" name="Text 5"/>
          <p:cNvSpPr/>
          <p:nvPr/>
        </p:nvSpPr>
        <p:spPr>
          <a:xfrm>
            <a:off x="1691640" y="1965960"/>
            <a:ext cx="4023360" cy="365760"/>
          </a:xfrm>
          <a:prstGeom prst="rect">
            <a:avLst/>
          </a:prstGeom>
          <a:noFill/>
          <a:ln/>
        </p:spPr>
        <p:txBody>
          <a:bodyPr wrap="square" lIns="0" tIns="0" rIns="0" bIns="0" rtlCol="0" anchor="ctr"/>
          <a:lstStyle/>
          <a:p>
            <a:pPr marL="0" indent="0">
              <a:buNone/>
            </a:pPr>
            <a:r>
              <a:rPr lang="en-US" sz="1600" b="1" dirty="0">
                <a:solidFill>
                  <a:srgbClr val="121826"/>
                </a:solidFill>
                <a:latin typeface="Cambria" pitchFamily="34" charset="0"/>
                <a:ea typeface="Cambria" pitchFamily="34" charset="-122"/>
                <a:cs typeface="Cambria" pitchFamily="34" charset="-120"/>
              </a:rPr>
              <a:t>Predict Failures Early</a:t>
            </a:r>
            <a:endParaRPr lang="en-US" sz="1600" dirty="0"/>
          </a:p>
        </p:txBody>
      </p:sp>
      <p:sp>
        <p:nvSpPr>
          <p:cNvPr id="8" name="Text 6"/>
          <p:cNvSpPr/>
          <p:nvPr/>
        </p:nvSpPr>
        <p:spPr>
          <a:xfrm>
            <a:off x="1691640" y="2377440"/>
            <a:ext cx="4023360" cy="1097280"/>
          </a:xfrm>
          <a:prstGeom prst="rect">
            <a:avLst/>
          </a:prstGeom>
          <a:noFill/>
          <a:ln/>
        </p:spPr>
        <p:txBody>
          <a:bodyPr wrap="square" lIns="0" tIns="0" rIns="0" bIns="0" rtlCol="0" anchor="t"/>
          <a:lstStyle/>
          <a:p>
            <a:pPr marL="0" indent="0">
              <a:buNone/>
            </a:pPr>
            <a:r>
              <a:rPr lang="en-US" sz="1250" dirty="0">
                <a:solidFill>
                  <a:srgbClr val="5B6472"/>
                </a:solidFill>
                <a:latin typeface="Calibri" pitchFamily="34" charset="0"/>
                <a:ea typeface="Calibri" pitchFamily="34" charset="-122"/>
                <a:cs typeface="Calibri" pitchFamily="34" charset="-120"/>
              </a:rPr>
              <a:t>Detect failure risk up to 24 hours in advance using ML on live sensor readings.</a:t>
            </a:r>
            <a:endParaRPr lang="en-US" sz="1250" dirty="0"/>
          </a:p>
        </p:txBody>
      </p:sp>
      <p:sp>
        <p:nvSpPr>
          <p:cNvPr id="9" name="Shape 7"/>
          <p:cNvSpPr/>
          <p:nvPr/>
        </p:nvSpPr>
        <p:spPr>
          <a:xfrm>
            <a:off x="6355080" y="1691640"/>
            <a:ext cx="5440680" cy="1965960"/>
          </a:xfrm>
          <a:prstGeom prst="roundRect">
            <a:avLst>
              <a:gd name="adj" fmla="val 3721"/>
            </a:avLst>
          </a:prstGeom>
          <a:solidFill>
            <a:srgbClr val="FFFFFF"/>
          </a:solidFill>
          <a:ln w="12700">
            <a:solidFill>
              <a:srgbClr val="E2E6EC"/>
            </a:solidFill>
            <a:prstDash val="solid"/>
          </a:ln>
          <a:effectLst>
            <a:outerShdw blurRad="101600" dist="38100" dir="5400000" algn="bl" rotWithShape="0">
              <a:srgbClr val="0B0F17">
                <a:alpha val="35000"/>
              </a:srgbClr>
            </a:outerShdw>
          </a:effectLst>
        </p:spPr>
        <p:txBody>
          <a:bodyPr/>
          <a:p/>
        </p:txBody>
      </p:sp>
      <p:sp>
        <p:nvSpPr>
          <p:cNvPr id="10" name="Shape 8"/>
          <p:cNvSpPr/>
          <p:nvPr/>
        </p:nvSpPr>
        <p:spPr>
          <a:xfrm>
            <a:off x="6629400" y="2011680"/>
            <a:ext cx="640080" cy="640080"/>
          </a:xfrm>
          <a:prstGeom prst="ellipse">
            <a:avLst/>
          </a:prstGeom>
          <a:solidFill>
            <a:srgbClr val="3B6E8F"/>
          </a:solidFill>
          <a:ln/>
        </p:spPr>
        <p:txBody>
          <a:bodyPr/>
          <a:p/>
        </p:txBody>
      </p:sp>
      <p:sp>
        <p:nvSpPr>
          <p:cNvPr id="11" name="Text 9"/>
          <p:cNvSpPr/>
          <p:nvPr/>
        </p:nvSpPr>
        <p:spPr>
          <a:xfrm>
            <a:off x="6629400" y="2011680"/>
            <a:ext cx="640080" cy="640080"/>
          </a:xfrm>
          <a:prstGeom prst="rect">
            <a:avLst/>
          </a:prstGeom>
          <a:noFill/>
          <a:ln/>
        </p:spPr>
        <p:txBody>
          <a:bodyPr wrap="square" lIns="0" tIns="0" rIns="0" bIns="0"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2</a:t>
            </a:r>
            <a:endParaRPr lang="en-US" sz="1820" dirty="0"/>
          </a:p>
        </p:txBody>
      </p:sp>
      <p:sp>
        <p:nvSpPr>
          <p:cNvPr id="12" name="Text 10"/>
          <p:cNvSpPr/>
          <p:nvPr/>
        </p:nvSpPr>
        <p:spPr>
          <a:xfrm>
            <a:off x="7498080" y="1965960"/>
            <a:ext cx="4023360" cy="365760"/>
          </a:xfrm>
          <a:prstGeom prst="rect">
            <a:avLst/>
          </a:prstGeom>
          <a:noFill/>
          <a:ln/>
        </p:spPr>
        <p:txBody>
          <a:bodyPr wrap="square" lIns="0" tIns="0" rIns="0" bIns="0" rtlCol="0" anchor="ctr"/>
          <a:lstStyle/>
          <a:p>
            <a:pPr marL="0" indent="0">
              <a:buNone/>
            </a:pPr>
            <a:r>
              <a:rPr lang="en-US" sz="1600" b="1" dirty="0">
                <a:solidFill>
                  <a:srgbClr val="121826"/>
                </a:solidFill>
                <a:latin typeface="Cambria" pitchFamily="34" charset="0"/>
                <a:ea typeface="Cambria" pitchFamily="34" charset="-122"/>
                <a:cs typeface="Cambria" pitchFamily="34" charset="-120"/>
              </a:rPr>
              <a:t>Classify Failure Type</a:t>
            </a:r>
            <a:endParaRPr lang="en-US" sz="1600" dirty="0"/>
          </a:p>
        </p:txBody>
      </p:sp>
      <p:sp>
        <p:nvSpPr>
          <p:cNvPr id="13" name="Text 11"/>
          <p:cNvSpPr/>
          <p:nvPr/>
        </p:nvSpPr>
        <p:spPr>
          <a:xfrm>
            <a:off x="7498080" y="2377440"/>
            <a:ext cx="4023360" cy="1097280"/>
          </a:xfrm>
          <a:prstGeom prst="rect">
            <a:avLst/>
          </a:prstGeom>
          <a:noFill/>
          <a:ln/>
        </p:spPr>
        <p:txBody>
          <a:bodyPr wrap="square" lIns="0" tIns="0" rIns="0" bIns="0" rtlCol="0" anchor="t"/>
          <a:lstStyle/>
          <a:p>
            <a:pPr marL="0" indent="0">
              <a:buNone/>
            </a:pPr>
            <a:r>
              <a:rPr lang="en-US" sz="1250" dirty="0">
                <a:solidFill>
                  <a:srgbClr val="5B6472"/>
                </a:solidFill>
                <a:latin typeface="Calibri" pitchFamily="34" charset="0"/>
                <a:ea typeface="Calibri" pitchFamily="34" charset="-122"/>
                <a:cs typeface="Calibri" pitchFamily="34" charset="-120"/>
              </a:rPr>
              <a:t>Identify the specific failure mode — bearing, electrical, hydraulic, or motor overheat.</a:t>
            </a:r>
            <a:endParaRPr lang="en-US" sz="1250" dirty="0"/>
          </a:p>
        </p:txBody>
      </p:sp>
      <p:sp>
        <p:nvSpPr>
          <p:cNvPr id="14" name="Shape 12"/>
          <p:cNvSpPr/>
          <p:nvPr/>
        </p:nvSpPr>
        <p:spPr>
          <a:xfrm>
            <a:off x="548640" y="3977640"/>
            <a:ext cx="5440680" cy="1965960"/>
          </a:xfrm>
          <a:prstGeom prst="roundRect">
            <a:avLst>
              <a:gd name="adj" fmla="val 3721"/>
            </a:avLst>
          </a:prstGeom>
          <a:solidFill>
            <a:srgbClr val="FFFFFF"/>
          </a:solidFill>
          <a:ln w="12700">
            <a:solidFill>
              <a:srgbClr val="E2E6EC"/>
            </a:solidFill>
            <a:prstDash val="solid"/>
          </a:ln>
          <a:effectLst>
            <a:outerShdw blurRad="101600" dist="38100" dir="5400000" algn="bl" rotWithShape="0">
              <a:srgbClr val="0B0F17">
                <a:alpha val="35000"/>
              </a:srgbClr>
            </a:outerShdw>
          </a:effectLst>
        </p:spPr>
        <p:txBody>
          <a:bodyPr/>
          <a:p/>
        </p:txBody>
      </p:sp>
      <p:sp>
        <p:nvSpPr>
          <p:cNvPr id="15" name="Shape 13"/>
          <p:cNvSpPr/>
          <p:nvPr/>
        </p:nvSpPr>
        <p:spPr>
          <a:xfrm>
            <a:off x="822960" y="4297680"/>
            <a:ext cx="640080" cy="640080"/>
          </a:xfrm>
          <a:prstGeom prst="ellipse">
            <a:avLst/>
          </a:prstGeom>
          <a:solidFill>
            <a:srgbClr val="3B6E8F"/>
          </a:solidFill>
          <a:ln/>
        </p:spPr>
        <p:txBody>
          <a:bodyPr/>
          <a:p/>
        </p:txBody>
      </p:sp>
      <p:sp>
        <p:nvSpPr>
          <p:cNvPr id="16" name="Text 14"/>
          <p:cNvSpPr/>
          <p:nvPr/>
        </p:nvSpPr>
        <p:spPr>
          <a:xfrm>
            <a:off x="822960" y="4297680"/>
            <a:ext cx="640080" cy="640080"/>
          </a:xfrm>
          <a:prstGeom prst="rect">
            <a:avLst/>
          </a:prstGeom>
          <a:noFill/>
          <a:ln/>
        </p:spPr>
        <p:txBody>
          <a:bodyPr wrap="square" lIns="0" tIns="0" rIns="0" bIns="0"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3</a:t>
            </a:r>
            <a:endParaRPr lang="en-US" sz="1820" dirty="0"/>
          </a:p>
        </p:txBody>
      </p:sp>
      <p:sp>
        <p:nvSpPr>
          <p:cNvPr id="17" name="Text 15"/>
          <p:cNvSpPr/>
          <p:nvPr/>
        </p:nvSpPr>
        <p:spPr>
          <a:xfrm>
            <a:off x="1691640" y="4251960"/>
            <a:ext cx="4023360" cy="365760"/>
          </a:xfrm>
          <a:prstGeom prst="rect">
            <a:avLst/>
          </a:prstGeom>
          <a:noFill/>
          <a:ln/>
        </p:spPr>
        <p:txBody>
          <a:bodyPr wrap="square" lIns="0" tIns="0" rIns="0" bIns="0" rtlCol="0" anchor="ctr"/>
          <a:lstStyle/>
          <a:p>
            <a:pPr marL="0" indent="0">
              <a:buNone/>
            </a:pPr>
            <a:r>
              <a:rPr lang="en-US" sz="1600" b="1" dirty="0">
                <a:solidFill>
                  <a:srgbClr val="121826"/>
                </a:solidFill>
                <a:latin typeface="Cambria" pitchFamily="34" charset="0"/>
                <a:ea typeface="Cambria" pitchFamily="34" charset="-122"/>
                <a:cs typeface="Cambria" pitchFamily="34" charset="-120"/>
              </a:rPr>
              <a:t>Automate the Pipeline</a:t>
            </a:r>
            <a:endParaRPr lang="en-US" sz="1600" dirty="0"/>
          </a:p>
        </p:txBody>
      </p:sp>
      <p:sp>
        <p:nvSpPr>
          <p:cNvPr id="18" name="Text 16"/>
          <p:cNvSpPr/>
          <p:nvPr/>
        </p:nvSpPr>
        <p:spPr>
          <a:xfrm>
            <a:off x="1691640" y="4663440"/>
            <a:ext cx="4023360" cy="1097280"/>
          </a:xfrm>
          <a:prstGeom prst="rect">
            <a:avLst/>
          </a:prstGeom>
          <a:noFill/>
          <a:ln/>
        </p:spPr>
        <p:txBody>
          <a:bodyPr wrap="square" lIns="0" tIns="0" rIns="0" bIns="0" rtlCol="0" anchor="t"/>
          <a:lstStyle/>
          <a:p>
            <a:pPr marL="0" indent="0">
              <a:buNone/>
            </a:pPr>
            <a:r>
              <a:rPr lang="en-US" sz="1250" dirty="0">
                <a:solidFill>
                  <a:srgbClr val="5B6472"/>
                </a:solidFill>
                <a:latin typeface="Calibri" pitchFamily="34" charset="0"/>
                <a:ea typeface="Calibri" pitchFamily="34" charset="-122"/>
                <a:cs typeface="Calibri" pitchFamily="34" charset="-120"/>
              </a:rPr>
              <a:t>Connect data collection, prediction, and alerting with zero manual intervention.</a:t>
            </a:r>
            <a:endParaRPr lang="en-US" sz="1250" dirty="0"/>
          </a:p>
        </p:txBody>
      </p:sp>
      <p:sp>
        <p:nvSpPr>
          <p:cNvPr id="19" name="Shape 17"/>
          <p:cNvSpPr/>
          <p:nvPr/>
        </p:nvSpPr>
        <p:spPr>
          <a:xfrm>
            <a:off x="6355080" y="3977640"/>
            <a:ext cx="5440680" cy="1965960"/>
          </a:xfrm>
          <a:prstGeom prst="roundRect">
            <a:avLst>
              <a:gd name="adj" fmla="val 3721"/>
            </a:avLst>
          </a:prstGeom>
          <a:solidFill>
            <a:srgbClr val="FFFFFF"/>
          </a:solidFill>
          <a:ln w="12700">
            <a:solidFill>
              <a:srgbClr val="E2E6EC"/>
            </a:solidFill>
            <a:prstDash val="solid"/>
          </a:ln>
          <a:effectLst>
            <a:outerShdw blurRad="101600" dist="38100" dir="5400000" algn="bl" rotWithShape="0">
              <a:srgbClr val="0B0F17">
                <a:alpha val="35000"/>
              </a:srgbClr>
            </a:outerShdw>
          </a:effectLst>
        </p:spPr>
        <p:txBody>
          <a:bodyPr/>
          <a:p/>
        </p:txBody>
      </p:sp>
      <p:sp>
        <p:nvSpPr>
          <p:cNvPr id="20" name="Shape 18"/>
          <p:cNvSpPr/>
          <p:nvPr/>
        </p:nvSpPr>
        <p:spPr>
          <a:xfrm>
            <a:off x="6629400" y="4297680"/>
            <a:ext cx="640080" cy="640080"/>
          </a:xfrm>
          <a:prstGeom prst="ellipse">
            <a:avLst/>
          </a:prstGeom>
          <a:solidFill>
            <a:srgbClr val="3B6E8F"/>
          </a:solidFill>
          <a:ln/>
        </p:spPr>
        <p:txBody>
          <a:bodyPr/>
          <a:p/>
        </p:txBody>
      </p:sp>
      <p:sp>
        <p:nvSpPr>
          <p:cNvPr id="21" name="Text 19"/>
          <p:cNvSpPr/>
          <p:nvPr/>
        </p:nvSpPr>
        <p:spPr>
          <a:xfrm>
            <a:off x="6629400" y="4297680"/>
            <a:ext cx="640080" cy="640080"/>
          </a:xfrm>
          <a:prstGeom prst="rect">
            <a:avLst/>
          </a:prstGeom>
          <a:noFill/>
          <a:ln/>
        </p:spPr>
        <p:txBody>
          <a:bodyPr wrap="square" lIns="0" tIns="0" rIns="0" bIns="0"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4</a:t>
            </a:r>
            <a:endParaRPr lang="en-US" sz="1820" dirty="0"/>
          </a:p>
        </p:txBody>
      </p:sp>
      <p:sp>
        <p:nvSpPr>
          <p:cNvPr id="22" name="Text 20"/>
          <p:cNvSpPr/>
          <p:nvPr/>
        </p:nvSpPr>
        <p:spPr>
          <a:xfrm>
            <a:off x="7498080" y="4251960"/>
            <a:ext cx="4023360" cy="365760"/>
          </a:xfrm>
          <a:prstGeom prst="rect">
            <a:avLst/>
          </a:prstGeom>
          <a:noFill/>
          <a:ln/>
        </p:spPr>
        <p:txBody>
          <a:bodyPr wrap="square" lIns="0" tIns="0" rIns="0" bIns="0" rtlCol="0" anchor="ctr"/>
          <a:lstStyle/>
          <a:p>
            <a:pPr marL="0" indent="0">
              <a:buNone/>
            </a:pPr>
            <a:r>
              <a:rPr lang="en-US" sz="1600" b="1" dirty="0">
                <a:solidFill>
                  <a:srgbClr val="121826"/>
                </a:solidFill>
                <a:latin typeface="Cambria" pitchFamily="34" charset="0"/>
                <a:ea typeface="Cambria" pitchFamily="34" charset="-122"/>
                <a:cs typeface="Cambria" pitchFamily="34" charset="-120"/>
              </a:rPr>
              <a:t>Deliver Actionable Insight</a:t>
            </a:r>
            <a:endParaRPr lang="en-US" sz="1600" dirty="0"/>
          </a:p>
        </p:txBody>
      </p:sp>
      <p:sp>
        <p:nvSpPr>
          <p:cNvPr id="23" name="Text 21"/>
          <p:cNvSpPr/>
          <p:nvPr/>
        </p:nvSpPr>
        <p:spPr>
          <a:xfrm>
            <a:off x="7498080" y="4663440"/>
            <a:ext cx="4023360" cy="1097280"/>
          </a:xfrm>
          <a:prstGeom prst="rect">
            <a:avLst/>
          </a:prstGeom>
          <a:noFill/>
          <a:ln/>
        </p:spPr>
        <p:txBody>
          <a:bodyPr wrap="square" lIns="0" tIns="0" rIns="0" bIns="0" rtlCol="0" anchor="t"/>
          <a:lstStyle/>
          <a:p>
            <a:pPr marL="0" indent="0">
              <a:buNone/>
            </a:pPr>
            <a:r>
              <a:rPr lang="en-US" sz="1250" dirty="0">
                <a:solidFill>
                  <a:srgbClr val="5B6472"/>
                </a:solidFill>
                <a:latin typeface="Calibri" pitchFamily="34" charset="0"/>
                <a:ea typeface="Calibri" pitchFamily="34" charset="-122"/>
                <a:cs typeface="Calibri" pitchFamily="34" charset="-120"/>
              </a:rPr>
              <a:t>Give technicians AI-generated recommendations and a live health dashboard.</a:t>
            </a:r>
            <a:endParaRPr lang="en-US" sz="1250" dirty="0"/>
          </a:p>
        </p:txBody>
      </p:sp>
      <p:sp>
        <p:nvSpPr>
          <p:cNvPr id="24" name="Text 22"/>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03</a:t>
            </a:r>
            <a:endParaRPr lang="en-US" sz="1000" dirty="0"/>
          </a:p>
        </p:txBody>
      </p:sp>
    </p:spTree>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826"/>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HOW IT FITS TOGETHER</a:t>
            </a:r>
            <a:endParaRPr lang="en-US" sz="120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System Architecture</a:t>
            </a:r>
            <a:endParaRPr lang="en-US" sz="3200" dirty="0"/>
          </a:p>
        </p:txBody>
      </p:sp>
      <p:sp>
        <p:nvSpPr>
          <p:cNvPr id="4" name="Shape 2"/>
          <p:cNvSpPr/>
          <p:nvPr/>
        </p:nvSpPr>
        <p:spPr>
          <a:xfrm>
            <a:off x="699516" y="2377440"/>
            <a:ext cx="1828800" cy="1371600"/>
          </a:xfrm>
          <a:prstGeom prst="roundRect">
            <a:avLst>
              <a:gd name="adj" fmla="val 5333"/>
            </a:avLst>
          </a:prstGeom>
          <a:solidFill>
            <a:srgbClr val="232D42"/>
          </a:solidFill>
          <a:ln/>
        </p:spPr>
        <p:txBody>
          <a:bodyPr/>
          <a:p/>
        </p:txBody>
      </p:sp>
      <p:sp>
        <p:nvSpPr>
          <p:cNvPr id="5" name="Text 3"/>
          <p:cNvSpPr/>
          <p:nvPr/>
        </p:nvSpPr>
        <p:spPr>
          <a:xfrm>
            <a:off x="699516" y="2670048"/>
            <a:ext cx="18288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Sensors</a:t>
            </a:r>
            <a:endParaRPr lang="en-US" sz="1500" dirty="0"/>
          </a:p>
        </p:txBody>
      </p:sp>
      <p:sp>
        <p:nvSpPr>
          <p:cNvPr id="6" name="Text 4"/>
          <p:cNvSpPr/>
          <p:nvPr/>
        </p:nvSpPr>
        <p:spPr>
          <a:xfrm>
            <a:off x="699516" y="3090672"/>
            <a:ext cx="1828800" cy="548640"/>
          </a:xfrm>
          <a:prstGeom prst="rect">
            <a:avLst/>
          </a:prstGeom>
          <a:noFill/>
          <a:ln/>
        </p:spPr>
        <p:txBody>
          <a:bodyPr wrap="square" lIns="0" tIns="0" rIns="0" bIns="0" rtlCol="0" anchor="ctr"/>
          <a:lstStyle/>
          <a:p>
            <a:pPr marL="0" indent="0" algn="ctr">
              <a:buNone/>
            </a:pPr>
            <a:r>
              <a:rPr lang="en-US" sz="1050" dirty="0">
                <a:solidFill>
                  <a:srgbClr val="AEB8C4"/>
                </a:solidFill>
                <a:latin typeface="Calibri" pitchFamily="34" charset="0"/>
                <a:ea typeface="Calibri" pitchFamily="34" charset="-122"/>
                <a:cs typeface="Calibri" pitchFamily="34" charset="-120"/>
              </a:rPr>
              <a:t>Google Sheets</a:t>
            </a:r>
            <a:endParaRPr lang="en-US" sz="1050" dirty="0"/>
          </a:p>
        </p:txBody>
      </p:sp>
      <p:sp>
        <p:nvSpPr>
          <p:cNvPr id="7" name="Shape 5"/>
          <p:cNvSpPr/>
          <p:nvPr/>
        </p:nvSpPr>
        <p:spPr>
          <a:xfrm>
            <a:off x="2555748" y="2962656"/>
            <a:ext cx="356616" cy="201168"/>
          </a:xfrm>
          <a:prstGeom prst="rightArrow">
            <a:avLst/>
          </a:prstGeom>
          <a:solidFill>
            <a:srgbClr val="6FA8C7"/>
          </a:solidFill>
          <a:ln/>
        </p:spPr>
        <p:txBody>
          <a:bodyPr/>
          <a:p/>
        </p:txBody>
      </p:sp>
      <p:sp>
        <p:nvSpPr>
          <p:cNvPr id="8" name="Shape 6"/>
          <p:cNvSpPr/>
          <p:nvPr/>
        </p:nvSpPr>
        <p:spPr>
          <a:xfrm>
            <a:off x="2939796" y="2377440"/>
            <a:ext cx="1828800" cy="1371600"/>
          </a:xfrm>
          <a:prstGeom prst="roundRect">
            <a:avLst>
              <a:gd name="adj" fmla="val 5333"/>
            </a:avLst>
          </a:prstGeom>
          <a:solidFill>
            <a:srgbClr val="232D42"/>
          </a:solidFill>
          <a:ln/>
        </p:spPr>
        <p:txBody>
          <a:bodyPr/>
          <a:p/>
        </p:txBody>
      </p:sp>
      <p:sp>
        <p:nvSpPr>
          <p:cNvPr id="9" name="Text 7"/>
          <p:cNvSpPr/>
          <p:nvPr/>
        </p:nvSpPr>
        <p:spPr>
          <a:xfrm>
            <a:off x="2939796" y="2670048"/>
            <a:ext cx="18288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n8n</a:t>
            </a:r>
            <a:endParaRPr lang="en-US" sz="1500" dirty="0"/>
          </a:p>
        </p:txBody>
      </p:sp>
      <p:sp>
        <p:nvSpPr>
          <p:cNvPr id="10" name="Text 8"/>
          <p:cNvSpPr/>
          <p:nvPr/>
        </p:nvSpPr>
        <p:spPr>
          <a:xfrm>
            <a:off x="2939796" y="3090672"/>
            <a:ext cx="1828800" cy="548640"/>
          </a:xfrm>
          <a:prstGeom prst="rect">
            <a:avLst/>
          </a:prstGeom>
          <a:noFill/>
          <a:ln/>
        </p:spPr>
        <p:txBody>
          <a:bodyPr wrap="square" lIns="0" tIns="0" rIns="0" bIns="0" rtlCol="0" anchor="ctr"/>
          <a:lstStyle/>
          <a:p>
            <a:pPr marL="0" indent="0" algn="ctr">
              <a:buNone/>
            </a:pPr>
            <a:r>
              <a:rPr lang="en-US" sz="1050" dirty="0">
                <a:solidFill>
                  <a:srgbClr val="AEB8C4"/>
                </a:solidFill>
                <a:latin typeface="Calibri" pitchFamily="34" charset="0"/>
                <a:ea typeface="Calibri" pitchFamily="34" charset="-122"/>
                <a:cs typeface="Calibri" pitchFamily="34" charset="-120"/>
              </a:rPr>
              <a:t>Orchestration</a:t>
            </a:r>
            <a:endParaRPr lang="en-US" sz="1050" dirty="0"/>
          </a:p>
        </p:txBody>
      </p:sp>
      <p:sp>
        <p:nvSpPr>
          <p:cNvPr id="11" name="Shape 9"/>
          <p:cNvSpPr/>
          <p:nvPr/>
        </p:nvSpPr>
        <p:spPr>
          <a:xfrm>
            <a:off x="4796028" y="2962656"/>
            <a:ext cx="356616" cy="201168"/>
          </a:xfrm>
          <a:prstGeom prst="rightArrow">
            <a:avLst/>
          </a:prstGeom>
          <a:solidFill>
            <a:srgbClr val="6FA8C7"/>
          </a:solidFill>
          <a:ln/>
        </p:spPr>
        <p:txBody>
          <a:bodyPr/>
          <a:p/>
        </p:txBody>
      </p:sp>
      <p:sp>
        <p:nvSpPr>
          <p:cNvPr id="12" name="Shape 10"/>
          <p:cNvSpPr/>
          <p:nvPr/>
        </p:nvSpPr>
        <p:spPr>
          <a:xfrm>
            <a:off x="5180076" y="2377440"/>
            <a:ext cx="1828800" cy="1371600"/>
          </a:xfrm>
          <a:prstGeom prst="roundRect">
            <a:avLst>
              <a:gd name="adj" fmla="val 5333"/>
            </a:avLst>
          </a:prstGeom>
          <a:solidFill>
            <a:srgbClr val="232D42"/>
          </a:solidFill>
          <a:ln/>
        </p:spPr>
        <p:txBody>
          <a:bodyPr/>
          <a:p/>
        </p:txBody>
      </p:sp>
      <p:sp>
        <p:nvSpPr>
          <p:cNvPr id="13" name="Text 11"/>
          <p:cNvSpPr/>
          <p:nvPr/>
        </p:nvSpPr>
        <p:spPr>
          <a:xfrm>
            <a:off x="5180076" y="2670048"/>
            <a:ext cx="18288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FastAPI</a:t>
            </a:r>
            <a:endParaRPr lang="en-US" sz="1500" dirty="0"/>
          </a:p>
        </p:txBody>
      </p:sp>
      <p:sp>
        <p:nvSpPr>
          <p:cNvPr id="14" name="Text 12"/>
          <p:cNvSpPr/>
          <p:nvPr/>
        </p:nvSpPr>
        <p:spPr>
          <a:xfrm>
            <a:off x="5180076" y="3090672"/>
            <a:ext cx="1828800" cy="548640"/>
          </a:xfrm>
          <a:prstGeom prst="rect">
            <a:avLst/>
          </a:prstGeom>
          <a:noFill/>
          <a:ln/>
        </p:spPr>
        <p:txBody>
          <a:bodyPr wrap="square" lIns="0" tIns="0" rIns="0" bIns="0" rtlCol="0" anchor="ctr"/>
          <a:lstStyle/>
          <a:p>
            <a:pPr marL="0" indent="0" algn="ctr">
              <a:buNone/>
            </a:pPr>
            <a:r>
              <a:rPr lang="en-US" sz="1050" dirty="0">
                <a:solidFill>
                  <a:srgbClr val="AEB8C4"/>
                </a:solidFill>
                <a:latin typeface="Calibri" pitchFamily="34" charset="0"/>
                <a:ea typeface="Calibri" pitchFamily="34" charset="-122"/>
                <a:cs typeface="Calibri" pitchFamily="34" charset="-120"/>
              </a:rPr>
              <a:t>ML Models</a:t>
            </a:r>
            <a:endParaRPr lang="en-US" sz="1050" dirty="0"/>
          </a:p>
        </p:txBody>
      </p:sp>
      <p:sp>
        <p:nvSpPr>
          <p:cNvPr id="15" name="Shape 13"/>
          <p:cNvSpPr/>
          <p:nvPr/>
        </p:nvSpPr>
        <p:spPr>
          <a:xfrm>
            <a:off x="7036308" y="2962656"/>
            <a:ext cx="356616" cy="201168"/>
          </a:xfrm>
          <a:prstGeom prst="rightArrow">
            <a:avLst/>
          </a:prstGeom>
          <a:solidFill>
            <a:srgbClr val="6FA8C7"/>
          </a:solidFill>
          <a:ln/>
        </p:spPr>
        <p:txBody>
          <a:bodyPr/>
          <a:p/>
        </p:txBody>
      </p:sp>
      <p:sp>
        <p:nvSpPr>
          <p:cNvPr id="16" name="Shape 14"/>
          <p:cNvSpPr/>
          <p:nvPr/>
        </p:nvSpPr>
        <p:spPr>
          <a:xfrm>
            <a:off x="7420356" y="2377440"/>
            <a:ext cx="1828800" cy="1371600"/>
          </a:xfrm>
          <a:prstGeom prst="roundRect">
            <a:avLst>
              <a:gd name="adj" fmla="val 5333"/>
            </a:avLst>
          </a:prstGeom>
          <a:solidFill>
            <a:srgbClr val="232D42"/>
          </a:solidFill>
          <a:ln/>
        </p:spPr>
        <p:txBody>
          <a:bodyPr/>
          <a:p/>
        </p:txBody>
      </p:sp>
      <p:sp>
        <p:nvSpPr>
          <p:cNvPr id="17" name="Text 15"/>
          <p:cNvSpPr/>
          <p:nvPr/>
        </p:nvSpPr>
        <p:spPr>
          <a:xfrm>
            <a:off x="7420356" y="2670048"/>
            <a:ext cx="18288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AI Agent</a:t>
            </a:r>
            <a:endParaRPr lang="en-US" sz="1500" dirty="0"/>
          </a:p>
        </p:txBody>
      </p:sp>
      <p:sp>
        <p:nvSpPr>
          <p:cNvPr id="18" name="Text 16"/>
          <p:cNvSpPr/>
          <p:nvPr/>
        </p:nvSpPr>
        <p:spPr>
          <a:xfrm>
            <a:off x="7420356" y="3090672"/>
            <a:ext cx="1828800" cy="548640"/>
          </a:xfrm>
          <a:prstGeom prst="rect">
            <a:avLst/>
          </a:prstGeom>
          <a:noFill/>
          <a:ln/>
        </p:spPr>
        <p:txBody>
          <a:bodyPr wrap="square" lIns="0" tIns="0" rIns="0" bIns="0" rtlCol="0" anchor="ctr"/>
          <a:lstStyle/>
          <a:p>
            <a:pPr marL="0" indent="0" algn="ctr">
              <a:buNone/>
            </a:pPr>
            <a:r>
              <a:rPr lang="en-US" sz="1050" dirty="0">
                <a:solidFill>
                  <a:srgbClr val="AEB8C4"/>
                </a:solidFill>
                <a:latin typeface="Calibri" pitchFamily="34" charset="0"/>
                <a:ea typeface="Calibri" pitchFamily="34" charset="-122"/>
                <a:cs typeface="Calibri" pitchFamily="34" charset="-120"/>
              </a:rPr>
              <a:t>Recommendations</a:t>
            </a:r>
            <a:endParaRPr lang="en-US" sz="1050" dirty="0"/>
          </a:p>
        </p:txBody>
      </p:sp>
      <p:sp>
        <p:nvSpPr>
          <p:cNvPr id="19" name="Shape 17"/>
          <p:cNvSpPr/>
          <p:nvPr/>
        </p:nvSpPr>
        <p:spPr>
          <a:xfrm>
            <a:off x="9276588" y="2962656"/>
            <a:ext cx="356616" cy="201168"/>
          </a:xfrm>
          <a:prstGeom prst="rightArrow">
            <a:avLst/>
          </a:prstGeom>
          <a:solidFill>
            <a:srgbClr val="6FA8C7"/>
          </a:solidFill>
          <a:ln/>
        </p:spPr>
        <p:txBody>
          <a:bodyPr/>
          <a:p/>
        </p:txBody>
      </p:sp>
      <p:sp>
        <p:nvSpPr>
          <p:cNvPr id="20" name="Shape 18"/>
          <p:cNvSpPr/>
          <p:nvPr/>
        </p:nvSpPr>
        <p:spPr>
          <a:xfrm>
            <a:off x="9660636" y="2377440"/>
            <a:ext cx="1828800" cy="1371600"/>
          </a:xfrm>
          <a:prstGeom prst="roundRect">
            <a:avLst>
              <a:gd name="adj" fmla="val 5333"/>
            </a:avLst>
          </a:prstGeom>
          <a:solidFill>
            <a:srgbClr val="232D42"/>
          </a:solidFill>
          <a:ln/>
        </p:spPr>
        <p:txBody>
          <a:bodyPr/>
          <a:p/>
        </p:txBody>
      </p:sp>
      <p:sp>
        <p:nvSpPr>
          <p:cNvPr id="21" name="Text 19"/>
          <p:cNvSpPr/>
          <p:nvPr/>
        </p:nvSpPr>
        <p:spPr>
          <a:xfrm>
            <a:off x="9660636" y="2670048"/>
            <a:ext cx="18288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Telegram</a:t>
            </a:r>
            <a:endParaRPr lang="en-US" sz="1500" dirty="0"/>
          </a:p>
        </p:txBody>
      </p:sp>
      <p:sp>
        <p:nvSpPr>
          <p:cNvPr id="22" name="Text 20"/>
          <p:cNvSpPr/>
          <p:nvPr/>
        </p:nvSpPr>
        <p:spPr>
          <a:xfrm>
            <a:off x="9660636" y="3090672"/>
            <a:ext cx="1828800" cy="548640"/>
          </a:xfrm>
          <a:prstGeom prst="rect">
            <a:avLst/>
          </a:prstGeom>
          <a:noFill/>
          <a:ln/>
        </p:spPr>
        <p:txBody>
          <a:bodyPr wrap="square" lIns="0" tIns="0" rIns="0" bIns="0" rtlCol="0" anchor="ctr"/>
          <a:lstStyle/>
          <a:p>
            <a:pPr marL="0" indent="0" algn="ctr">
              <a:buNone/>
            </a:pPr>
            <a:r>
              <a:rPr lang="en-US" sz="1050" dirty="0">
                <a:solidFill>
                  <a:srgbClr val="AEB8C4"/>
                </a:solidFill>
                <a:latin typeface="Calibri" pitchFamily="34" charset="0"/>
                <a:ea typeface="Calibri" pitchFamily="34" charset="-122"/>
                <a:cs typeface="Calibri" pitchFamily="34" charset="-120"/>
              </a:rPr>
              <a:t>Power BI</a:t>
            </a:r>
            <a:endParaRPr lang="en-US" sz="1050" dirty="0"/>
          </a:p>
        </p:txBody>
      </p:sp>
      <p:sp>
        <p:nvSpPr>
          <p:cNvPr id="23" name="Text 21"/>
          <p:cNvSpPr/>
          <p:nvPr/>
        </p:nvSpPr>
        <p:spPr>
          <a:xfrm>
            <a:off x="1097280" y="4251960"/>
            <a:ext cx="9966960" cy="457200"/>
          </a:xfrm>
          <a:prstGeom prst="rect">
            <a:avLst/>
          </a:prstGeom>
          <a:noFill/>
          <a:ln/>
        </p:spPr>
        <p:txBody>
          <a:bodyPr wrap="square" lIns="0" tIns="0" rIns="0" bIns="0" rtlCol="0" anchor="ctr"/>
          <a:lstStyle/>
          <a:p>
            <a:pPr marL="0" indent="0" algn="ctr">
              <a:buNone/>
            </a:pPr>
            <a:r>
              <a:rPr lang="en-US" sz="1300" i="1" dirty="0">
                <a:solidFill>
                  <a:srgbClr val="AEB8C4"/>
                </a:solidFill>
                <a:latin typeface="Calibri" pitchFamily="34" charset="0"/>
                <a:ea typeface="Calibri" pitchFamily="34" charset="-122"/>
                <a:cs typeface="Calibri" pitchFamily="34" charset="-120"/>
              </a:rPr>
              <a:t>Data flows left to right: raw readings become predictions, predictions become decisions, decisions become alerts and dashboards.</a:t>
            </a:r>
            <a:endParaRPr lang="en-US" sz="1300" dirty="0"/>
          </a:p>
        </p:txBody>
      </p:sp>
      <p:sp>
        <p:nvSpPr>
          <p:cNvPr id="24" name="Text 22"/>
          <p:cNvSpPr/>
          <p:nvPr/>
        </p:nvSpPr>
        <p:spPr>
          <a:xfrm>
            <a:off x="822960" y="4983480"/>
            <a:ext cx="10515600" cy="292608"/>
          </a:xfrm>
          <a:prstGeom prst="rect">
            <a:avLst/>
          </a:prstGeom>
          <a:noFill/>
          <a:ln/>
        </p:spPr>
        <p:txBody>
          <a:bodyPr wrap="square" lIns="0" tIns="0" rIns="0" bIns="0" rtlCol="0" anchor="ctr"/>
          <a:lstStyle/>
          <a:p>
            <a:pPr marL="0" indent="0">
              <a:buNone/>
            </a:pPr>
            <a:r>
              <a:rPr lang="en-US" sz="1250" b="1" dirty="0">
                <a:solidFill>
                  <a:srgbClr val="E8A33D"/>
                </a:solidFill>
                <a:latin typeface="Calibri" pitchFamily="34" charset="0"/>
                <a:ea typeface="Calibri" pitchFamily="34" charset="-122"/>
                <a:cs typeface="Calibri" pitchFamily="34" charset="-120"/>
              </a:rPr>
              <a:t>Data Layer  </a:t>
            </a:r>
            <a:r>
              <a:rPr lang="en-US" sz="1250" dirty="0">
                <a:solidFill>
                  <a:srgbClr val="AEB8C4"/>
                </a:solidFill>
                <a:latin typeface="Calibri" pitchFamily="34" charset="0"/>
                <a:ea typeface="Calibri" pitchFamily="34" charset="-122"/>
                <a:cs typeface="Calibri" pitchFamily="34" charset="-120"/>
              </a:rPr>
              <a:t>Google Sheets stores live sensor readings per machine</a:t>
            </a:r>
            <a:endParaRPr lang="en-US" sz="1250" dirty="0"/>
          </a:p>
        </p:txBody>
      </p:sp>
      <p:sp>
        <p:nvSpPr>
          <p:cNvPr id="25" name="Text 23"/>
          <p:cNvSpPr/>
          <p:nvPr/>
        </p:nvSpPr>
        <p:spPr>
          <a:xfrm>
            <a:off x="822960" y="5312664"/>
            <a:ext cx="10515600" cy="292608"/>
          </a:xfrm>
          <a:prstGeom prst="rect">
            <a:avLst/>
          </a:prstGeom>
          <a:noFill/>
          <a:ln/>
        </p:spPr>
        <p:txBody>
          <a:bodyPr wrap="square" lIns="0" tIns="0" rIns="0" bIns="0" rtlCol="0" anchor="ctr"/>
          <a:lstStyle/>
          <a:p>
            <a:pPr marL="0" indent="0">
              <a:buNone/>
            </a:pPr>
            <a:r>
              <a:rPr lang="en-US" sz="1250" b="1" dirty="0">
                <a:solidFill>
                  <a:srgbClr val="E8A33D"/>
                </a:solidFill>
                <a:latin typeface="Calibri" pitchFamily="34" charset="0"/>
                <a:ea typeface="Calibri" pitchFamily="34" charset="-122"/>
                <a:cs typeface="Calibri" pitchFamily="34" charset="-120"/>
              </a:rPr>
              <a:t>Service Layer  </a:t>
            </a:r>
            <a:r>
              <a:rPr lang="en-US" sz="1250" dirty="0">
                <a:solidFill>
                  <a:srgbClr val="AEB8C4"/>
                </a:solidFill>
                <a:latin typeface="Calibri" pitchFamily="34" charset="0"/>
                <a:ea typeface="Calibri" pitchFamily="34" charset="-122"/>
                <a:cs typeface="Calibri" pitchFamily="34" charset="-120"/>
              </a:rPr>
              <a:t>FastAPI hosts the trained ML models as REST endpoints</a:t>
            </a:r>
            <a:endParaRPr lang="en-US" sz="1250" dirty="0"/>
          </a:p>
        </p:txBody>
      </p:sp>
      <p:sp>
        <p:nvSpPr>
          <p:cNvPr id="26" name="Text 24"/>
          <p:cNvSpPr/>
          <p:nvPr/>
        </p:nvSpPr>
        <p:spPr>
          <a:xfrm>
            <a:off x="822960" y="5641848"/>
            <a:ext cx="10515600" cy="292608"/>
          </a:xfrm>
          <a:prstGeom prst="rect">
            <a:avLst/>
          </a:prstGeom>
          <a:noFill/>
          <a:ln/>
        </p:spPr>
        <p:txBody>
          <a:bodyPr wrap="square" lIns="0" tIns="0" rIns="0" bIns="0" rtlCol="0" anchor="ctr"/>
          <a:lstStyle/>
          <a:p>
            <a:pPr marL="0" indent="0">
              <a:buNone/>
            </a:pPr>
            <a:r>
              <a:rPr lang="en-US" sz="1250" b="1" dirty="0">
                <a:solidFill>
                  <a:srgbClr val="E8A33D"/>
                </a:solidFill>
                <a:latin typeface="Calibri" pitchFamily="34" charset="0"/>
                <a:ea typeface="Calibri" pitchFamily="34" charset="-122"/>
                <a:cs typeface="Calibri" pitchFamily="34" charset="-120"/>
              </a:rPr>
              <a:t>Intelligence Layer  </a:t>
            </a:r>
            <a:r>
              <a:rPr lang="en-US" sz="1250" dirty="0">
                <a:solidFill>
                  <a:srgbClr val="AEB8C4"/>
                </a:solidFill>
                <a:latin typeface="Calibri" pitchFamily="34" charset="0"/>
                <a:ea typeface="Calibri" pitchFamily="34" charset="-122"/>
                <a:cs typeface="Calibri" pitchFamily="34" charset="-120"/>
              </a:rPr>
              <a:t>AI Agent (Gemini/OpenAI) interprets results into guidance</a:t>
            </a:r>
            <a:endParaRPr lang="en-US" sz="1250" dirty="0"/>
          </a:p>
        </p:txBody>
      </p:sp>
      <p:sp>
        <p:nvSpPr>
          <p:cNvPr id="27" name="Text 25"/>
          <p:cNvSpPr/>
          <p:nvPr/>
        </p:nvSpPr>
        <p:spPr>
          <a:xfrm>
            <a:off x="822960" y="5971032"/>
            <a:ext cx="10515600" cy="292608"/>
          </a:xfrm>
          <a:prstGeom prst="rect">
            <a:avLst/>
          </a:prstGeom>
          <a:noFill/>
          <a:ln/>
        </p:spPr>
        <p:txBody>
          <a:bodyPr wrap="square" lIns="0" tIns="0" rIns="0" bIns="0" rtlCol="0" anchor="ctr"/>
          <a:lstStyle/>
          <a:p>
            <a:pPr marL="0" indent="0">
              <a:buNone/>
            </a:pPr>
            <a:r>
              <a:rPr lang="en-US" sz="1250" b="1" dirty="0">
                <a:solidFill>
                  <a:srgbClr val="E8A33D"/>
                </a:solidFill>
                <a:latin typeface="Calibri" pitchFamily="34" charset="0"/>
                <a:ea typeface="Calibri" pitchFamily="34" charset="-122"/>
                <a:cs typeface="Calibri" pitchFamily="34" charset="-120"/>
              </a:rPr>
              <a:t>Delivery Layer  </a:t>
            </a:r>
            <a:r>
              <a:rPr lang="en-US" sz="1250" dirty="0">
                <a:solidFill>
                  <a:srgbClr val="AEB8C4"/>
                </a:solidFill>
                <a:latin typeface="Calibri" pitchFamily="34" charset="0"/>
                <a:ea typeface="Calibri" pitchFamily="34" charset="-122"/>
                <a:cs typeface="Calibri" pitchFamily="34" charset="-120"/>
              </a:rPr>
              <a:t>Telegram + Power BI deliver alerts and visual KPIs</a:t>
            </a:r>
            <a:endParaRPr lang="en-US" sz="1250" dirty="0"/>
          </a:p>
        </p:txBody>
      </p:sp>
      <p:sp>
        <p:nvSpPr>
          <p:cNvPr id="28" name="Text 26"/>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AEB8C4"/>
                </a:solidFill>
                <a:latin typeface="Calibri" pitchFamily="34" charset="0"/>
                <a:ea typeface="Calibri" pitchFamily="34" charset="-122"/>
                <a:cs typeface="Calibri" pitchFamily="34" charset="-120"/>
              </a:rPr>
              <a:t>04</a:t>
            </a:r>
            <a:endParaRPr lang="en-US" sz="1000" dirty="0"/>
          </a:p>
        </p:txBody>
      </p:sp>
    </p:spTree>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3B6E8F"/>
                </a:solidFill>
                <a:latin typeface="Calibri" pitchFamily="34" charset="0"/>
                <a:ea typeface="Calibri" pitchFamily="34" charset="-122"/>
                <a:cs typeface="Calibri" pitchFamily="34" charset="-120"/>
              </a:rPr>
              <a:t>DATA</a:t>
            </a:r>
            <a:endParaRPr lang="en-US" sz="120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121826"/>
                </a:solidFill>
                <a:latin typeface="Cambria" pitchFamily="34" charset="0"/>
                <a:ea typeface="Cambria" pitchFamily="34" charset="-122"/>
                <a:cs typeface="Cambria" pitchFamily="34" charset="-120"/>
              </a:rPr>
              <a:t>Dataset Description</a:t>
            </a:r>
            <a:endParaRPr lang="en-US" sz="3200" dirty="0"/>
          </a:p>
        </p:txBody>
      </p:sp>
      <p:sp>
        <p:nvSpPr>
          <p:cNvPr id="4" name="Shape 2"/>
          <p:cNvSpPr/>
          <p:nvPr/>
        </p:nvSpPr>
        <p:spPr>
          <a:xfrm>
            <a:off x="548640" y="1600200"/>
            <a:ext cx="3611880" cy="1371600"/>
          </a:xfrm>
          <a:prstGeom prst="roundRect">
            <a:avLst>
              <a:gd name="adj" fmla="val 5333"/>
            </a:avLst>
          </a:prstGeom>
          <a:solidFill>
            <a:srgbClr val="FFFFFF"/>
          </a:solidFill>
          <a:ln w="12700">
            <a:solidFill>
              <a:srgbClr val="E2E6EC"/>
            </a:solidFill>
            <a:prstDash val="solid"/>
          </a:ln>
        </p:spPr>
        <p:txBody>
          <a:bodyPr/>
          <a:p/>
        </p:txBody>
      </p:sp>
      <p:sp>
        <p:nvSpPr>
          <p:cNvPr id="5" name="Shape 3"/>
          <p:cNvSpPr/>
          <p:nvPr/>
        </p:nvSpPr>
        <p:spPr>
          <a:xfrm>
            <a:off x="731520" y="1801368"/>
            <a:ext cx="109728" cy="109728"/>
          </a:xfrm>
          <a:prstGeom prst="roundRect">
            <a:avLst>
              <a:gd name="adj" fmla="val 50000"/>
            </a:avLst>
          </a:prstGeom>
          <a:solidFill>
            <a:srgbClr val="3B6E8F"/>
          </a:solidFill>
          <a:ln/>
        </p:spPr>
        <p:txBody>
          <a:bodyPr/>
          <a:p/>
        </p:txBody>
      </p:sp>
      <p:sp>
        <p:nvSpPr>
          <p:cNvPr id="6" name="Text 4"/>
          <p:cNvSpPr/>
          <p:nvPr/>
        </p:nvSpPr>
        <p:spPr>
          <a:xfrm>
            <a:off x="960120" y="1737360"/>
            <a:ext cx="3017520" cy="274320"/>
          </a:xfrm>
          <a:prstGeom prst="rect">
            <a:avLst/>
          </a:prstGeom>
          <a:noFill/>
          <a:ln/>
        </p:spPr>
        <p:txBody>
          <a:bodyPr wrap="square" lIns="0" tIns="0" rIns="0" bIns="0" rtlCol="0" anchor="ctr"/>
          <a:lstStyle/>
          <a:p>
            <a:pPr marL="0" indent="0">
              <a:buNone/>
            </a:pPr>
            <a:r>
              <a:rPr lang="en-US" sz="1300" b="1" dirty="0">
                <a:solidFill>
                  <a:srgbClr val="121826"/>
                </a:solidFill>
                <a:latin typeface="Calibri" pitchFamily="34" charset="0"/>
                <a:ea typeface="Calibri" pitchFamily="34" charset="-122"/>
                <a:cs typeface="Calibri" pitchFamily="34" charset="-120"/>
              </a:rPr>
              <a:t>machine_type</a:t>
            </a:r>
            <a:endParaRPr lang="en-US" sz="1300" dirty="0"/>
          </a:p>
        </p:txBody>
      </p:sp>
      <p:sp>
        <p:nvSpPr>
          <p:cNvPr id="7" name="Text 5"/>
          <p:cNvSpPr/>
          <p:nvPr/>
        </p:nvSpPr>
        <p:spPr>
          <a:xfrm>
            <a:off x="731520" y="2103120"/>
            <a:ext cx="3246120" cy="777240"/>
          </a:xfrm>
          <a:prstGeom prst="rect">
            <a:avLst/>
          </a:prstGeom>
          <a:noFill/>
          <a:ln/>
        </p:spPr>
        <p:txBody>
          <a:bodyPr wrap="square" lIns="0" tIns="0" rIns="0" bIns="0" rtlCol="0" anchor="t"/>
          <a:lstStyle/>
          <a:p>
            <a:pPr marL="0" indent="0">
              <a:buNone/>
            </a:pPr>
            <a:r>
              <a:rPr lang="en-US" sz="1100" dirty="0">
                <a:solidFill>
                  <a:srgbClr val="5B6472"/>
                </a:solidFill>
                <a:latin typeface="Calibri" pitchFamily="34" charset="0"/>
                <a:ea typeface="Calibri" pitchFamily="34" charset="-122"/>
                <a:cs typeface="Calibri" pitchFamily="34" charset="-120"/>
              </a:rPr>
              <a:t>Category of the industrial machine</a:t>
            </a:r>
            <a:endParaRPr lang="en-US" sz="1100" dirty="0"/>
          </a:p>
        </p:txBody>
      </p:sp>
      <p:sp>
        <p:nvSpPr>
          <p:cNvPr id="8" name="Shape 6"/>
          <p:cNvSpPr/>
          <p:nvPr/>
        </p:nvSpPr>
        <p:spPr>
          <a:xfrm>
            <a:off x="4343400" y="1600200"/>
            <a:ext cx="3611880" cy="1371600"/>
          </a:xfrm>
          <a:prstGeom prst="roundRect">
            <a:avLst>
              <a:gd name="adj" fmla="val 5333"/>
            </a:avLst>
          </a:prstGeom>
          <a:solidFill>
            <a:srgbClr val="FFFFFF"/>
          </a:solidFill>
          <a:ln w="12700">
            <a:solidFill>
              <a:srgbClr val="E2E6EC"/>
            </a:solidFill>
            <a:prstDash val="solid"/>
          </a:ln>
        </p:spPr>
        <p:txBody>
          <a:bodyPr/>
          <a:p/>
        </p:txBody>
      </p:sp>
      <p:sp>
        <p:nvSpPr>
          <p:cNvPr id="9" name="Shape 7"/>
          <p:cNvSpPr/>
          <p:nvPr/>
        </p:nvSpPr>
        <p:spPr>
          <a:xfrm>
            <a:off x="4526280" y="1801368"/>
            <a:ext cx="109728" cy="109728"/>
          </a:xfrm>
          <a:prstGeom prst="roundRect">
            <a:avLst>
              <a:gd name="adj" fmla="val 50000"/>
            </a:avLst>
          </a:prstGeom>
          <a:solidFill>
            <a:srgbClr val="3B6E8F"/>
          </a:solidFill>
          <a:ln/>
        </p:spPr>
        <p:txBody>
          <a:bodyPr/>
          <a:p/>
        </p:txBody>
      </p:sp>
      <p:sp>
        <p:nvSpPr>
          <p:cNvPr id="10" name="Text 8"/>
          <p:cNvSpPr/>
          <p:nvPr/>
        </p:nvSpPr>
        <p:spPr>
          <a:xfrm>
            <a:off x="4754880" y="1737360"/>
            <a:ext cx="3017520" cy="274320"/>
          </a:xfrm>
          <a:prstGeom prst="rect">
            <a:avLst/>
          </a:prstGeom>
          <a:noFill/>
          <a:ln/>
        </p:spPr>
        <p:txBody>
          <a:bodyPr wrap="square" lIns="0" tIns="0" rIns="0" bIns="0" rtlCol="0" anchor="ctr"/>
          <a:lstStyle/>
          <a:p>
            <a:pPr marL="0" indent="0">
              <a:buNone/>
            </a:pPr>
            <a:r>
              <a:rPr lang="en-US" sz="1300" b="1" dirty="0">
                <a:solidFill>
                  <a:srgbClr val="121826"/>
                </a:solidFill>
                <a:latin typeface="Calibri" pitchFamily="34" charset="0"/>
                <a:ea typeface="Calibri" pitchFamily="34" charset="-122"/>
                <a:cs typeface="Calibri" pitchFamily="34" charset="-120"/>
              </a:rPr>
              <a:t>vibration_rms</a:t>
            </a:r>
            <a:endParaRPr lang="en-US" sz="1300" dirty="0"/>
          </a:p>
        </p:txBody>
      </p:sp>
      <p:sp>
        <p:nvSpPr>
          <p:cNvPr id="11" name="Text 9"/>
          <p:cNvSpPr/>
          <p:nvPr/>
        </p:nvSpPr>
        <p:spPr>
          <a:xfrm>
            <a:off x="4526280" y="2103120"/>
            <a:ext cx="3246120" cy="777240"/>
          </a:xfrm>
          <a:prstGeom prst="rect">
            <a:avLst/>
          </a:prstGeom>
          <a:noFill/>
          <a:ln/>
        </p:spPr>
        <p:txBody>
          <a:bodyPr wrap="square" lIns="0" tIns="0" rIns="0" bIns="0" rtlCol="0" anchor="t"/>
          <a:lstStyle/>
          <a:p>
            <a:pPr marL="0" indent="0">
              <a:buNone/>
            </a:pPr>
            <a:r>
              <a:rPr lang="en-US" sz="1100" dirty="0">
                <a:solidFill>
                  <a:srgbClr val="5B6472"/>
                </a:solidFill>
                <a:latin typeface="Calibri" pitchFamily="34" charset="0"/>
                <a:ea typeface="Calibri" pitchFamily="34" charset="-122"/>
                <a:cs typeface="Calibri" pitchFamily="34" charset="-120"/>
              </a:rPr>
              <a:t>Root-mean-square vibration signal</a:t>
            </a:r>
            <a:endParaRPr lang="en-US" sz="1100" dirty="0"/>
          </a:p>
        </p:txBody>
      </p:sp>
      <p:sp>
        <p:nvSpPr>
          <p:cNvPr id="12" name="Shape 10"/>
          <p:cNvSpPr/>
          <p:nvPr/>
        </p:nvSpPr>
        <p:spPr>
          <a:xfrm>
            <a:off x="8138160" y="1600200"/>
            <a:ext cx="3611880" cy="1371600"/>
          </a:xfrm>
          <a:prstGeom prst="roundRect">
            <a:avLst>
              <a:gd name="adj" fmla="val 5333"/>
            </a:avLst>
          </a:prstGeom>
          <a:solidFill>
            <a:srgbClr val="FFFFFF"/>
          </a:solidFill>
          <a:ln w="12700">
            <a:solidFill>
              <a:srgbClr val="E2E6EC"/>
            </a:solidFill>
            <a:prstDash val="solid"/>
          </a:ln>
        </p:spPr>
        <p:txBody>
          <a:bodyPr/>
          <a:p/>
        </p:txBody>
      </p:sp>
      <p:sp>
        <p:nvSpPr>
          <p:cNvPr id="13" name="Shape 11"/>
          <p:cNvSpPr/>
          <p:nvPr/>
        </p:nvSpPr>
        <p:spPr>
          <a:xfrm>
            <a:off x="8321040" y="1801368"/>
            <a:ext cx="109728" cy="109728"/>
          </a:xfrm>
          <a:prstGeom prst="roundRect">
            <a:avLst>
              <a:gd name="adj" fmla="val 50000"/>
            </a:avLst>
          </a:prstGeom>
          <a:solidFill>
            <a:srgbClr val="3B6E8F"/>
          </a:solidFill>
          <a:ln/>
        </p:spPr>
        <p:txBody>
          <a:bodyPr/>
          <a:p/>
        </p:txBody>
      </p:sp>
      <p:sp>
        <p:nvSpPr>
          <p:cNvPr id="14" name="Text 12"/>
          <p:cNvSpPr/>
          <p:nvPr/>
        </p:nvSpPr>
        <p:spPr>
          <a:xfrm>
            <a:off x="8549640" y="1737360"/>
            <a:ext cx="3017520" cy="274320"/>
          </a:xfrm>
          <a:prstGeom prst="rect">
            <a:avLst/>
          </a:prstGeom>
          <a:noFill/>
          <a:ln/>
        </p:spPr>
        <p:txBody>
          <a:bodyPr wrap="square" lIns="0" tIns="0" rIns="0" bIns="0" rtlCol="0" anchor="ctr"/>
          <a:lstStyle/>
          <a:p>
            <a:pPr marL="0" indent="0">
              <a:buNone/>
            </a:pPr>
            <a:r>
              <a:rPr lang="en-US" sz="1300" b="1" dirty="0">
                <a:solidFill>
                  <a:srgbClr val="121826"/>
                </a:solidFill>
                <a:latin typeface="Calibri" pitchFamily="34" charset="0"/>
                <a:ea typeface="Calibri" pitchFamily="34" charset="-122"/>
                <a:cs typeface="Calibri" pitchFamily="34" charset="-120"/>
              </a:rPr>
              <a:t>temperature_motor</a:t>
            </a:r>
            <a:endParaRPr lang="en-US" sz="1300" dirty="0"/>
          </a:p>
        </p:txBody>
      </p:sp>
      <p:sp>
        <p:nvSpPr>
          <p:cNvPr id="15" name="Text 13"/>
          <p:cNvSpPr/>
          <p:nvPr/>
        </p:nvSpPr>
        <p:spPr>
          <a:xfrm>
            <a:off x="8321040" y="2103120"/>
            <a:ext cx="3246120" cy="777240"/>
          </a:xfrm>
          <a:prstGeom prst="rect">
            <a:avLst/>
          </a:prstGeom>
          <a:noFill/>
          <a:ln/>
        </p:spPr>
        <p:txBody>
          <a:bodyPr wrap="square" lIns="0" tIns="0" rIns="0" bIns="0" rtlCol="0" anchor="t"/>
          <a:lstStyle/>
          <a:p>
            <a:pPr marL="0" indent="0">
              <a:buNone/>
            </a:pPr>
            <a:r>
              <a:rPr lang="en-US" sz="1100" dirty="0">
                <a:solidFill>
                  <a:srgbClr val="5B6472"/>
                </a:solidFill>
                <a:latin typeface="Calibri" pitchFamily="34" charset="0"/>
                <a:ea typeface="Calibri" pitchFamily="34" charset="-122"/>
                <a:cs typeface="Calibri" pitchFamily="34" charset="-120"/>
              </a:rPr>
              <a:t>Motor housing temperature (°C)</a:t>
            </a:r>
            <a:endParaRPr lang="en-US" sz="1100" dirty="0"/>
          </a:p>
        </p:txBody>
      </p:sp>
      <p:sp>
        <p:nvSpPr>
          <p:cNvPr id="16" name="Shape 14"/>
          <p:cNvSpPr/>
          <p:nvPr/>
        </p:nvSpPr>
        <p:spPr>
          <a:xfrm>
            <a:off x="548640" y="3154680"/>
            <a:ext cx="3611880" cy="1371600"/>
          </a:xfrm>
          <a:prstGeom prst="roundRect">
            <a:avLst>
              <a:gd name="adj" fmla="val 5333"/>
            </a:avLst>
          </a:prstGeom>
          <a:solidFill>
            <a:srgbClr val="FFFFFF"/>
          </a:solidFill>
          <a:ln w="12700">
            <a:solidFill>
              <a:srgbClr val="E2E6EC"/>
            </a:solidFill>
            <a:prstDash val="solid"/>
          </a:ln>
        </p:spPr>
        <p:txBody>
          <a:bodyPr/>
          <a:p/>
        </p:txBody>
      </p:sp>
      <p:sp>
        <p:nvSpPr>
          <p:cNvPr id="17" name="Shape 15"/>
          <p:cNvSpPr/>
          <p:nvPr/>
        </p:nvSpPr>
        <p:spPr>
          <a:xfrm>
            <a:off x="731520" y="3355848"/>
            <a:ext cx="109728" cy="109728"/>
          </a:xfrm>
          <a:prstGeom prst="roundRect">
            <a:avLst>
              <a:gd name="adj" fmla="val 50000"/>
            </a:avLst>
          </a:prstGeom>
          <a:solidFill>
            <a:srgbClr val="3B6E8F"/>
          </a:solidFill>
          <a:ln/>
        </p:spPr>
        <p:txBody>
          <a:bodyPr/>
          <a:p/>
        </p:txBody>
      </p:sp>
      <p:sp>
        <p:nvSpPr>
          <p:cNvPr id="18" name="Text 16"/>
          <p:cNvSpPr/>
          <p:nvPr/>
        </p:nvSpPr>
        <p:spPr>
          <a:xfrm>
            <a:off x="960120" y="3291840"/>
            <a:ext cx="3017520" cy="274320"/>
          </a:xfrm>
          <a:prstGeom prst="rect">
            <a:avLst/>
          </a:prstGeom>
          <a:noFill/>
          <a:ln/>
        </p:spPr>
        <p:txBody>
          <a:bodyPr wrap="square" lIns="0" tIns="0" rIns="0" bIns="0" rtlCol="0" anchor="ctr"/>
          <a:lstStyle/>
          <a:p>
            <a:pPr marL="0" indent="0">
              <a:buNone/>
            </a:pPr>
            <a:r>
              <a:rPr lang="en-US" sz="1300" b="1" dirty="0">
                <a:solidFill>
                  <a:srgbClr val="121826"/>
                </a:solidFill>
                <a:latin typeface="Calibri" pitchFamily="34" charset="0"/>
                <a:ea typeface="Calibri" pitchFamily="34" charset="-122"/>
                <a:cs typeface="Calibri" pitchFamily="34" charset="-120"/>
              </a:rPr>
              <a:t>current_phase_avg</a:t>
            </a:r>
            <a:endParaRPr lang="en-US" sz="1300" dirty="0"/>
          </a:p>
        </p:txBody>
      </p:sp>
      <p:sp>
        <p:nvSpPr>
          <p:cNvPr id="19" name="Text 17"/>
          <p:cNvSpPr/>
          <p:nvPr/>
        </p:nvSpPr>
        <p:spPr>
          <a:xfrm>
            <a:off x="731520" y="3657600"/>
            <a:ext cx="3246120" cy="777240"/>
          </a:xfrm>
          <a:prstGeom prst="rect">
            <a:avLst/>
          </a:prstGeom>
          <a:noFill/>
          <a:ln/>
        </p:spPr>
        <p:txBody>
          <a:bodyPr wrap="square" lIns="0" tIns="0" rIns="0" bIns="0" rtlCol="0" anchor="t"/>
          <a:lstStyle/>
          <a:p>
            <a:pPr marL="0" indent="0">
              <a:buNone/>
            </a:pPr>
            <a:r>
              <a:rPr lang="en-US" sz="1100" dirty="0">
                <a:solidFill>
                  <a:srgbClr val="5B6472"/>
                </a:solidFill>
                <a:latin typeface="Calibri" pitchFamily="34" charset="0"/>
                <a:ea typeface="Calibri" pitchFamily="34" charset="-122"/>
                <a:cs typeface="Calibri" pitchFamily="34" charset="-120"/>
              </a:rPr>
              <a:t>Average electrical phase current</a:t>
            </a:r>
            <a:endParaRPr lang="en-US" sz="1100" dirty="0"/>
          </a:p>
        </p:txBody>
      </p:sp>
      <p:sp>
        <p:nvSpPr>
          <p:cNvPr id="20" name="Shape 18"/>
          <p:cNvSpPr/>
          <p:nvPr/>
        </p:nvSpPr>
        <p:spPr>
          <a:xfrm>
            <a:off x="4343400" y="3154680"/>
            <a:ext cx="3611880" cy="1371600"/>
          </a:xfrm>
          <a:prstGeom prst="roundRect">
            <a:avLst>
              <a:gd name="adj" fmla="val 5333"/>
            </a:avLst>
          </a:prstGeom>
          <a:solidFill>
            <a:srgbClr val="FFFFFF"/>
          </a:solidFill>
          <a:ln w="12700">
            <a:solidFill>
              <a:srgbClr val="E2E6EC"/>
            </a:solidFill>
            <a:prstDash val="solid"/>
          </a:ln>
        </p:spPr>
        <p:txBody>
          <a:bodyPr/>
          <a:p/>
        </p:txBody>
      </p:sp>
      <p:sp>
        <p:nvSpPr>
          <p:cNvPr id="21" name="Shape 19"/>
          <p:cNvSpPr/>
          <p:nvPr/>
        </p:nvSpPr>
        <p:spPr>
          <a:xfrm>
            <a:off x="4526280" y="3355848"/>
            <a:ext cx="109728" cy="109728"/>
          </a:xfrm>
          <a:prstGeom prst="roundRect">
            <a:avLst>
              <a:gd name="adj" fmla="val 50000"/>
            </a:avLst>
          </a:prstGeom>
          <a:solidFill>
            <a:srgbClr val="3B6E8F"/>
          </a:solidFill>
          <a:ln/>
        </p:spPr>
        <p:txBody>
          <a:bodyPr/>
          <a:p/>
        </p:txBody>
      </p:sp>
      <p:sp>
        <p:nvSpPr>
          <p:cNvPr id="22" name="Text 20"/>
          <p:cNvSpPr/>
          <p:nvPr/>
        </p:nvSpPr>
        <p:spPr>
          <a:xfrm>
            <a:off x="4754880" y="3291840"/>
            <a:ext cx="3017520" cy="274320"/>
          </a:xfrm>
          <a:prstGeom prst="rect">
            <a:avLst/>
          </a:prstGeom>
          <a:noFill/>
          <a:ln/>
        </p:spPr>
        <p:txBody>
          <a:bodyPr wrap="square" lIns="0" tIns="0" rIns="0" bIns="0" rtlCol="0" anchor="ctr"/>
          <a:lstStyle/>
          <a:p>
            <a:pPr marL="0" indent="0">
              <a:buNone/>
            </a:pPr>
            <a:r>
              <a:rPr lang="en-US" sz="1300" b="1" dirty="0">
                <a:solidFill>
                  <a:srgbClr val="121826"/>
                </a:solidFill>
                <a:latin typeface="Calibri" pitchFamily="34" charset="0"/>
                <a:ea typeface="Calibri" pitchFamily="34" charset="-122"/>
                <a:cs typeface="Calibri" pitchFamily="34" charset="-120"/>
              </a:rPr>
              <a:t>pressure_level</a:t>
            </a:r>
            <a:endParaRPr lang="en-US" sz="1300" dirty="0"/>
          </a:p>
        </p:txBody>
      </p:sp>
      <p:sp>
        <p:nvSpPr>
          <p:cNvPr id="23" name="Text 21"/>
          <p:cNvSpPr/>
          <p:nvPr/>
        </p:nvSpPr>
        <p:spPr>
          <a:xfrm>
            <a:off x="4526280" y="3657600"/>
            <a:ext cx="3246120" cy="777240"/>
          </a:xfrm>
          <a:prstGeom prst="rect">
            <a:avLst/>
          </a:prstGeom>
          <a:noFill/>
          <a:ln/>
        </p:spPr>
        <p:txBody>
          <a:bodyPr wrap="square" lIns="0" tIns="0" rIns="0" bIns="0" rtlCol="0" anchor="t"/>
          <a:lstStyle/>
          <a:p>
            <a:pPr marL="0" indent="0">
              <a:buNone/>
            </a:pPr>
            <a:r>
              <a:rPr lang="en-US" sz="1100" dirty="0">
                <a:solidFill>
                  <a:srgbClr val="5B6472"/>
                </a:solidFill>
                <a:latin typeface="Calibri" pitchFamily="34" charset="0"/>
                <a:ea typeface="Calibri" pitchFamily="34" charset="-122"/>
                <a:cs typeface="Calibri" pitchFamily="34" charset="-120"/>
              </a:rPr>
              <a:t>Hydraulic/pneumatic pressure reading</a:t>
            </a:r>
            <a:endParaRPr lang="en-US" sz="1100" dirty="0"/>
          </a:p>
        </p:txBody>
      </p:sp>
      <p:sp>
        <p:nvSpPr>
          <p:cNvPr id="24" name="Shape 22"/>
          <p:cNvSpPr/>
          <p:nvPr/>
        </p:nvSpPr>
        <p:spPr>
          <a:xfrm>
            <a:off x="8138160" y="3154680"/>
            <a:ext cx="3611880" cy="1371600"/>
          </a:xfrm>
          <a:prstGeom prst="roundRect">
            <a:avLst>
              <a:gd name="adj" fmla="val 5333"/>
            </a:avLst>
          </a:prstGeom>
          <a:solidFill>
            <a:srgbClr val="FFFFFF"/>
          </a:solidFill>
          <a:ln w="12700">
            <a:solidFill>
              <a:srgbClr val="E2E6EC"/>
            </a:solidFill>
            <a:prstDash val="solid"/>
          </a:ln>
        </p:spPr>
        <p:txBody>
          <a:bodyPr/>
          <a:p/>
        </p:txBody>
      </p:sp>
      <p:sp>
        <p:nvSpPr>
          <p:cNvPr id="25" name="Shape 23"/>
          <p:cNvSpPr/>
          <p:nvPr/>
        </p:nvSpPr>
        <p:spPr>
          <a:xfrm>
            <a:off x="8321040" y="3355848"/>
            <a:ext cx="109728" cy="109728"/>
          </a:xfrm>
          <a:prstGeom prst="roundRect">
            <a:avLst>
              <a:gd name="adj" fmla="val 50000"/>
            </a:avLst>
          </a:prstGeom>
          <a:solidFill>
            <a:srgbClr val="3B6E8F"/>
          </a:solidFill>
          <a:ln/>
        </p:spPr>
        <p:txBody>
          <a:bodyPr/>
          <a:p/>
        </p:txBody>
      </p:sp>
      <p:sp>
        <p:nvSpPr>
          <p:cNvPr id="26" name="Text 24"/>
          <p:cNvSpPr/>
          <p:nvPr/>
        </p:nvSpPr>
        <p:spPr>
          <a:xfrm>
            <a:off x="8549640" y="3291840"/>
            <a:ext cx="3017520" cy="274320"/>
          </a:xfrm>
          <a:prstGeom prst="rect">
            <a:avLst/>
          </a:prstGeom>
          <a:noFill/>
          <a:ln/>
        </p:spPr>
        <p:txBody>
          <a:bodyPr wrap="square" lIns="0" tIns="0" rIns="0" bIns="0" rtlCol="0" anchor="ctr"/>
          <a:lstStyle/>
          <a:p>
            <a:pPr marL="0" indent="0">
              <a:buNone/>
            </a:pPr>
            <a:r>
              <a:rPr lang="en-US" sz="1300" b="1" dirty="0">
                <a:solidFill>
                  <a:srgbClr val="121826"/>
                </a:solidFill>
                <a:latin typeface="Calibri" pitchFamily="34" charset="0"/>
                <a:ea typeface="Calibri" pitchFamily="34" charset="-122"/>
                <a:cs typeface="Calibri" pitchFamily="34" charset="-120"/>
              </a:rPr>
              <a:t>rpm</a:t>
            </a:r>
            <a:endParaRPr lang="en-US" sz="1300" dirty="0"/>
          </a:p>
        </p:txBody>
      </p:sp>
      <p:sp>
        <p:nvSpPr>
          <p:cNvPr id="27" name="Text 25"/>
          <p:cNvSpPr/>
          <p:nvPr/>
        </p:nvSpPr>
        <p:spPr>
          <a:xfrm>
            <a:off x="8321040" y="3657600"/>
            <a:ext cx="3246120" cy="777240"/>
          </a:xfrm>
          <a:prstGeom prst="rect">
            <a:avLst/>
          </a:prstGeom>
          <a:noFill/>
          <a:ln/>
        </p:spPr>
        <p:txBody>
          <a:bodyPr wrap="square" lIns="0" tIns="0" rIns="0" bIns="0" rtlCol="0" anchor="t"/>
          <a:lstStyle/>
          <a:p>
            <a:pPr marL="0" indent="0">
              <a:buNone/>
            </a:pPr>
            <a:r>
              <a:rPr lang="en-US" sz="1100" dirty="0">
                <a:solidFill>
                  <a:srgbClr val="5B6472"/>
                </a:solidFill>
                <a:latin typeface="Calibri" pitchFamily="34" charset="0"/>
                <a:ea typeface="Calibri" pitchFamily="34" charset="-122"/>
                <a:cs typeface="Calibri" pitchFamily="34" charset="-120"/>
              </a:rPr>
              <a:t>Rotational speed of the machine</a:t>
            </a:r>
            <a:endParaRPr lang="en-US" sz="1100" dirty="0"/>
          </a:p>
        </p:txBody>
      </p:sp>
      <p:sp>
        <p:nvSpPr>
          <p:cNvPr id="28" name="Shape 26"/>
          <p:cNvSpPr/>
          <p:nvPr/>
        </p:nvSpPr>
        <p:spPr>
          <a:xfrm>
            <a:off x="548640" y="4709160"/>
            <a:ext cx="3611880" cy="1371600"/>
          </a:xfrm>
          <a:prstGeom prst="roundRect">
            <a:avLst>
              <a:gd name="adj" fmla="val 5333"/>
            </a:avLst>
          </a:prstGeom>
          <a:solidFill>
            <a:srgbClr val="FFFFFF"/>
          </a:solidFill>
          <a:ln w="12700">
            <a:solidFill>
              <a:srgbClr val="E2E6EC"/>
            </a:solidFill>
            <a:prstDash val="solid"/>
          </a:ln>
        </p:spPr>
        <p:txBody>
          <a:bodyPr/>
          <a:p/>
        </p:txBody>
      </p:sp>
      <p:sp>
        <p:nvSpPr>
          <p:cNvPr id="29" name="Shape 27"/>
          <p:cNvSpPr/>
          <p:nvPr/>
        </p:nvSpPr>
        <p:spPr>
          <a:xfrm>
            <a:off x="731520" y="4910328"/>
            <a:ext cx="109728" cy="109728"/>
          </a:xfrm>
          <a:prstGeom prst="roundRect">
            <a:avLst>
              <a:gd name="adj" fmla="val 50000"/>
            </a:avLst>
          </a:prstGeom>
          <a:solidFill>
            <a:srgbClr val="3B6E8F"/>
          </a:solidFill>
          <a:ln/>
        </p:spPr>
        <p:txBody>
          <a:bodyPr/>
          <a:p/>
        </p:txBody>
      </p:sp>
      <p:sp>
        <p:nvSpPr>
          <p:cNvPr id="30" name="Text 28"/>
          <p:cNvSpPr/>
          <p:nvPr/>
        </p:nvSpPr>
        <p:spPr>
          <a:xfrm>
            <a:off x="960120" y="4846320"/>
            <a:ext cx="3017520" cy="274320"/>
          </a:xfrm>
          <a:prstGeom prst="rect">
            <a:avLst/>
          </a:prstGeom>
          <a:noFill/>
          <a:ln/>
        </p:spPr>
        <p:txBody>
          <a:bodyPr wrap="square" lIns="0" tIns="0" rIns="0" bIns="0" rtlCol="0" anchor="ctr"/>
          <a:lstStyle/>
          <a:p>
            <a:pPr marL="0" indent="0">
              <a:buNone/>
            </a:pPr>
            <a:r>
              <a:rPr lang="en-US" sz="1300" b="1" dirty="0">
                <a:solidFill>
                  <a:srgbClr val="121826"/>
                </a:solidFill>
                <a:latin typeface="Calibri" pitchFamily="34" charset="0"/>
                <a:ea typeface="Calibri" pitchFamily="34" charset="-122"/>
                <a:cs typeface="Calibri" pitchFamily="34" charset="-120"/>
              </a:rPr>
              <a:t>operating_mode</a:t>
            </a:r>
            <a:endParaRPr lang="en-US" sz="1300" dirty="0"/>
          </a:p>
        </p:txBody>
      </p:sp>
      <p:sp>
        <p:nvSpPr>
          <p:cNvPr id="31" name="Text 29"/>
          <p:cNvSpPr/>
          <p:nvPr/>
        </p:nvSpPr>
        <p:spPr>
          <a:xfrm>
            <a:off x="731520" y="5212080"/>
            <a:ext cx="3246120" cy="777240"/>
          </a:xfrm>
          <a:prstGeom prst="rect">
            <a:avLst/>
          </a:prstGeom>
          <a:noFill/>
          <a:ln/>
        </p:spPr>
        <p:txBody>
          <a:bodyPr wrap="square" lIns="0" tIns="0" rIns="0" bIns="0" rtlCol="0" anchor="t"/>
          <a:lstStyle/>
          <a:p>
            <a:pPr marL="0" indent="0">
              <a:buNone/>
            </a:pPr>
            <a:r>
              <a:rPr lang="en-US" sz="1100" dirty="0">
                <a:solidFill>
                  <a:srgbClr val="5B6472"/>
                </a:solidFill>
                <a:latin typeface="Calibri" pitchFamily="34" charset="0"/>
                <a:ea typeface="Calibri" pitchFamily="34" charset="-122"/>
                <a:cs typeface="Calibri" pitchFamily="34" charset="-120"/>
              </a:rPr>
              <a:t>Idle / Normal / Heavy-load state</a:t>
            </a:r>
            <a:endParaRPr lang="en-US" sz="1100" dirty="0"/>
          </a:p>
        </p:txBody>
      </p:sp>
      <p:sp>
        <p:nvSpPr>
          <p:cNvPr id="32" name="Shape 30"/>
          <p:cNvSpPr/>
          <p:nvPr/>
        </p:nvSpPr>
        <p:spPr>
          <a:xfrm>
            <a:off x="4343400" y="4709160"/>
            <a:ext cx="3611880" cy="1371600"/>
          </a:xfrm>
          <a:prstGeom prst="roundRect">
            <a:avLst>
              <a:gd name="adj" fmla="val 5333"/>
            </a:avLst>
          </a:prstGeom>
          <a:solidFill>
            <a:srgbClr val="FFFFFF"/>
          </a:solidFill>
          <a:ln w="12700">
            <a:solidFill>
              <a:srgbClr val="E2E6EC"/>
            </a:solidFill>
            <a:prstDash val="solid"/>
          </a:ln>
        </p:spPr>
        <p:txBody>
          <a:bodyPr/>
          <a:p/>
        </p:txBody>
      </p:sp>
      <p:sp>
        <p:nvSpPr>
          <p:cNvPr id="33" name="Shape 31"/>
          <p:cNvSpPr/>
          <p:nvPr/>
        </p:nvSpPr>
        <p:spPr>
          <a:xfrm>
            <a:off x="4526280" y="4910328"/>
            <a:ext cx="109728" cy="109728"/>
          </a:xfrm>
          <a:prstGeom prst="roundRect">
            <a:avLst>
              <a:gd name="adj" fmla="val 50000"/>
            </a:avLst>
          </a:prstGeom>
          <a:solidFill>
            <a:srgbClr val="3B6E8F"/>
          </a:solidFill>
          <a:ln/>
        </p:spPr>
        <p:txBody>
          <a:bodyPr/>
          <a:p/>
        </p:txBody>
      </p:sp>
      <p:sp>
        <p:nvSpPr>
          <p:cNvPr id="34" name="Text 32"/>
          <p:cNvSpPr/>
          <p:nvPr/>
        </p:nvSpPr>
        <p:spPr>
          <a:xfrm>
            <a:off x="4754880" y="4846320"/>
            <a:ext cx="3017520" cy="274320"/>
          </a:xfrm>
          <a:prstGeom prst="rect">
            <a:avLst/>
          </a:prstGeom>
          <a:noFill/>
          <a:ln/>
        </p:spPr>
        <p:txBody>
          <a:bodyPr wrap="square" lIns="0" tIns="0" rIns="0" bIns="0" rtlCol="0" anchor="ctr"/>
          <a:lstStyle/>
          <a:p>
            <a:pPr marL="0" indent="0">
              <a:buNone/>
            </a:pPr>
            <a:r>
              <a:rPr lang="en-US" sz="1300" b="1" dirty="0">
                <a:solidFill>
                  <a:srgbClr val="121826"/>
                </a:solidFill>
                <a:latin typeface="Calibri" pitchFamily="34" charset="0"/>
                <a:ea typeface="Calibri" pitchFamily="34" charset="-122"/>
                <a:cs typeface="Calibri" pitchFamily="34" charset="-120"/>
              </a:rPr>
              <a:t>hours_since_maintenance</a:t>
            </a:r>
            <a:endParaRPr lang="en-US" sz="1300" dirty="0"/>
          </a:p>
        </p:txBody>
      </p:sp>
      <p:sp>
        <p:nvSpPr>
          <p:cNvPr id="35" name="Text 33"/>
          <p:cNvSpPr/>
          <p:nvPr/>
        </p:nvSpPr>
        <p:spPr>
          <a:xfrm>
            <a:off x="4526280" y="5212080"/>
            <a:ext cx="3246120" cy="777240"/>
          </a:xfrm>
          <a:prstGeom prst="rect">
            <a:avLst/>
          </a:prstGeom>
          <a:noFill/>
          <a:ln/>
        </p:spPr>
        <p:txBody>
          <a:bodyPr wrap="square" lIns="0" tIns="0" rIns="0" bIns="0" rtlCol="0" anchor="t"/>
          <a:lstStyle/>
          <a:p>
            <a:pPr marL="0" indent="0">
              <a:buNone/>
            </a:pPr>
            <a:r>
              <a:rPr lang="en-US" sz="1100" dirty="0">
                <a:solidFill>
                  <a:srgbClr val="5B6472"/>
                </a:solidFill>
                <a:latin typeface="Calibri" pitchFamily="34" charset="0"/>
                <a:ea typeface="Calibri" pitchFamily="34" charset="-122"/>
                <a:cs typeface="Calibri" pitchFamily="34" charset="-120"/>
              </a:rPr>
              <a:t>Time elapsed since last service</a:t>
            </a:r>
            <a:endParaRPr lang="en-US" sz="1100" dirty="0"/>
          </a:p>
        </p:txBody>
      </p:sp>
      <p:sp>
        <p:nvSpPr>
          <p:cNvPr id="36" name="Shape 34"/>
          <p:cNvSpPr/>
          <p:nvPr/>
        </p:nvSpPr>
        <p:spPr>
          <a:xfrm>
            <a:off x="8138160" y="4709160"/>
            <a:ext cx="3611880" cy="1371600"/>
          </a:xfrm>
          <a:prstGeom prst="roundRect">
            <a:avLst>
              <a:gd name="adj" fmla="val 5333"/>
            </a:avLst>
          </a:prstGeom>
          <a:solidFill>
            <a:srgbClr val="FFFFFF"/>
          </a:solidFill>
          <a:ln w="12700">
            <a:solidFill>
              <a:srgbClr val="E2E6EC"/>
            </a:solidFill>
            <a:prstDash val="solid"/>
          </a:ln>
        </p:spPr>
        <p:txBody>
          <a:bodyPr/>
          <a:p/>
        </p:txBody>
      </p:sp>
      <p:sp>
        <p:nvSpPr>
          <p:cNvPr id="37" name="Shape 35"/>
          <p:cNvSpPr/>
          <p:nvPr/>
        </p:nvSpPr>
        <p:spPr>
          <a:xfrm>
            <a:off x="8321040" y="4910328"/>
            <a:ext cx="109728" cy="109728"/>
          </a:xfrm>
          <a:prstGeom prst="roundRect">
            <a:avLst>
              <a:gd name="adj" fmla="val 50000"/>
            </a:avLst>
          </a:prstGeom>
          <a:solidFill>
            <a:srgbClr val="3B6E8F"/>
          </a:solidFill>
          <a:ln/>
        </p:spPr>
        <p:txBody>
          <a:bodyPr/>
          <a:p/>
        </p:txBody>
      </p:sp>
      <p:sp>
        <p:nvSpPr>
          <p:cNvPr id="38" name="Text 36"/>
          <p:cNvSpPr/>
          <p:nvPr/>
        </p:nvSpPr>
        <p:spPr>
          <a:xfrm>
            <a:off x="8549640" y="4846320"/>
            <a:ext cx="3017520" cy="274320"/>
          </a:xfrm>
          <a:prstGeom prst="rect">
            <a:avLst/>
          </a:prstGeom>
          <a:noFill/>
          <a:ln/>
        </p:spPr>
        <p:txBody>
          <a:bodyPr wrap="square" lIns="0" tIns="0" rIns="0" bIns="0" rtlCol="0" anchor="ctr"/>
          <a:lstStyle/>
          <a:p>
            <a:pPr marL="0" indent="0">
              <a:buNone/>
            </a:pPr>
            <a:r>
              <a:rPr lang="en-US" sz="1300" b="1" dirty="0">
                <a:solidFill>
                  <a:srgbClr val="121826"/>
                </a:solidFill>
                <a:latin typeface="Calibri" pitchFamily="34" charset="0"/>
                <a:ea typeface="Calibri" pitchFamily="34" charset="-122"/>
                <a:cs typeface="Calibri" pitchFamily="34" charset="-120"/>
              </a:rPr>
              <a:t>ambient_temp</a:t>
            </a:r>
            <a:endParaRPr lang="en-US" sz="1300" dirty="0"/>
          </a:p>
        </p:txBody>
      </p:sp>
      <p:sp>
        <p:nvSpPr>
          <p:cNvPr id="39" name="Text 37"/>
          <p:cNvSpPr/>
          <p:nvPr/>
        </p:nvSpPr>
        <p:spPr>
          <a:xfrm>
            <a:off x="8321040" y="5212080"/>
            <a:ext cx="3246120" cy="777240"/>
          </a:xfrm>
          <a:prstGeom prst="rect">
            <a:avLst/>
          </a:prstGeom>
          <a:noFill/>
          <a:ln/>
        </p:spPr>
        <p:txBody>
          <a:bodyPr wrap="square" lIns="0" tIns="0" rIns="0" bIns="0" rtlCol="0" anchor="t"/>
          <a:lstStyle/>
          <a:p>
            <a:pPr marL="0" indent="0">
              <a:buNone/>
            </a:pPr>
            <a:r>
              <a:rPr lang="en-US" sz="1100" dirty="0">
                <a:solidFill>
                  <a:srgbClr val="5B6472"/>
                </a:solidFill>
                <a:latin typeface="Calibri" pitchFamily="34" charset="0"/>
                <a:ea typeface="Calibri" pitchFamily="34" charset="-122"/>
                <a:cs typeface="Calibri" pitchFamily="34" charset="-120"/>
              </a:rPr>
              <a:t>Surrounding environmental temperature</a:t>
            </a:r>
            <a:endParaRPr lang="en-US" sz="1100" dirty="0"/>
          </a:p>
        </p:txBody>
      </p:sp>
      <p:sp>
        <p:nvSpPr>
          <p:cNvPr id="40" name="Text 38"/>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05</a:t>
            </a:r>
            <a:endParaRPr lang="en-US" sz="1000" dirty="0"/>
          </a:p>
        </p:txBody>
      </p:sp>
    </p:spTree>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3B6E8F"/>
                </a:solidFill>
                <a:latin typeface="Calibri" pitchFamily="34" charset="0"/>
                <a:ea typeface="Calibri" pitchFamily="34" charset="-122"/>
                <a:cs typeface="Calibri" pitchFamily="34" charset="-120"/>
              </a:rPr>
              <a:t>PREPARING THE DATA</a:t>
            </a:r>
            <a:endParaRPr lang="en-US" sz="120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121826"/>
                </a:solidFill>
                <a:latin typeface="Cambria" pitchFamily="34" charset="0"/>
                <a:ea typeface="Cambria" pitchFamily="34" charset="-122"/>
                <a:cs typeface="Cambria" pitchFamily="34" charset="-120"/>
              </a:rPr>
              <a:t>Data Preprocessing</a:t>
            </a:r>
            <a:endParaRPr lang="en-US" sz="3200" dirty="0"/>
          </a:p>
        </p:txBody>
      </p:sp>
      <p:sp>
        <p:nvSpPr>
          <p:cNvPr id="4" name="Shape 2"/>
          <p:cNvSpPr/>
          <p:nvPr/>
        </p:nvSpPr>
        <p:spPr>
          <a:xfrm>
            <a:off x="548640" y="1828800"/>
            <a:ext cx="2606040" cy="2377440"/>
          </a:xfrm>
          <a:prstGeom prst="roundRect">
            <a:avLst>
              <a:gd name="adj" fmla="val 3077"/>
            </a:avLst>
          </a:prstGeom>
          <a:solidFill>
            <a:srgbClr val="1B2438"/>
          </a:solidFill>
          <a:ln/>
        </p:spPr>
        <p:txBody>
          <a:bodyPr/>
          <a:p/>
        </p:txBody>
      </p:sp>
      <p:sp>
        <p:nvSpPr>
          <p:cNvPr id="5" name="Text 3"/>
          <p:cNvSpPr/>
          <p:nvPr/>
        </p:nvSpPr>
        <p:spPr>
          <a:xfrm>
            <a:off x="731520" y="1993392"/>
            <a:ext cx="731520" cy="548640"/>
          </a:xfrm>
          <a:prstGeom prst="rect">
            <a:avLst/>
          </a:prstGeom>
          <a:noFill/>
          <a:ln/>
        </p:spPr>
        <p:txBody>
          <a:bodyPr wrap="square" lIns="0" tIns="0" rIns="0" bIns="0" rtlCol="0" anchor="ctr"/>
          <a:lstStyle/>
          <a:p>
            <a:pPr marL="0" indent="0">
              <a:buNone/>
            </a:pPr>
            <a:r>
              <a:rPr lang="en-US" sz="2600" b="1" dirty="0">
                <a:solidFill>
                  <a:srgbClr val="E8A33D"/>
                </a:solidFill>
                <a:latin typeface="Cambria" pitchFamily="34" charset="0"/>
                <a:ea typeface="Cambria" pitchFamily="34" charset="-122"/>
                <a:cs typeface="Cambria" pitchFamily="34" charset="-120"/>
              </a:rPr>
              <a:t>1</a:t>
            </a:r>
            <a:endParaRPr lang="en-US" sz="2600" dirty="0"/>
          </a:p>
        </p:txBody>
      </p:sp>
      <p:sp>
        <p:nvSpPr>
          <p:cNvPr id="6" name="Text 4"/>
          <p:cNvSpPr/>
          <p:nvPr/>
        </p:nvSpPr>
        <p:spPr>
          <a:xfrm>
            <a:off x="731520" y="2560320"/>
            <a:ext cx="2240280" cy="3200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Cleaning</a:t>
            </a:r>
            <a:endParaRPr lang="en-US" sz="1500" dirty="0"/>
          </a:p>
        </p:txBody>
      </p:sp>
      <p:sp>
        <p:nvSpPr>
          <p:cNvPr id="7" name="Text 5"/>
          <p:cNvSpPr/>
          <p:nvPr/>
        </p:nvSpPr>
        <p:spPr>
          <a:xfrm>
            <a:off x="731520" y="2926080"/>
            <a:ext cx="2240280" cy="1188720"/>
          </a:xfrm>
          <a:prstGeom prst="rect">
            <a:avLst/>
          </a:prstGeom>
          <a:noFill/>
          <a:ln/>
        </p:spPr>
        <p:txBody>
          <a:bodyPr wrap="square" lIns="0" tIns="0" rIns="0" bIns="0" rtlCol="0" anchor="t"/>
          <a:lstStyle/>
          <a:p>
            <a:pPr marL="0" indent="0">
              <a:buNone/>
            </a:pPr>
            <a:r>
              <a:rPr lang="en-US" sz="1100" dirty="0">
                <a:solidFill>
                  <a:srgbClr val="AEB8C4"/>
                </a:solidFill>
                <a:latin typeface="Calibri" pitchFamily="34" charset="0"/>
                <a:ea typeface="Calibri" pitchFamily="34" charset="-122"/>
                <a:cs typeface="Calibri" pitchFamily="34" charset="-120"/>
              </a:rPr>
              <a:t>Remove duplicates, handle missing sensor readings, filter out sensor noise/outliers.</a:t>
            </a:r>
            <a:endParaRPr lang="en-US" sz="1100" dirty="0"/>
          </a:p>
        </p:txBody>
      </p:sp>
      <p:sp>
        <p:nvSpPr>
          <p:cNvPr id="8" name="Shape 6"/>
          <p:cNvSpPr/>
          <p:nvPr/>
        </p:nvSpPr>
        <p:spPr>
          <a:xfrm>
            <a:off x="3182112" y="2916936"/>
            <a:ext cx="265176" cy="201168"/>
          </a:xfrm>
          <a:prstGeom prst="rightArrow">
            <a:avLst/>
          </a:prstGeom>
          <a:solidFill>
            <a:srgbClr val="3B6E8F"/>
          </a:solidFill>
          <a:ln/>
        </p:spPr>
        <p:txBody>
          <a:bodyPr/>
          <a:p/>
        </p:txBody>
      </p:sp>
      <p:sp>
        <p:nvSpPr>
          <p:cNvPr id="9" name="Shape 7"/>
          <p:cNvSpPr/>
          <p:nvPr/>
        </p:nvSpPr>
        <p:spPr>
          <a:xfrm>
            <a:off x="3474720" y="1828800"/>
            <a:ext cx="2606040" cy="2377440"/>
          </a:xfrm>
          <a:prstGeom prst="roundRect">
            <a:avLst>
              <a:gd name="adj" fmla="val 3077"/>
            </a:avLst>
          </a:prstGeom>
          <a:solidFill>
            <a:srgbClr val="1B2438"/>
          </a:solidFill>
          <a:ln/>
        </p:spPr>
        <p:txBody>
          <a:bodyPr/>
          <a:p/>
        </p:txBody>
      </p:sp>
      <p:sp>
        <p:nvSpPr>
          <p:cNvPr id="10" name="Text 8"/>
          <p:cNvSpPr/>
          <p:nvPr/>
        </p:nvSpPr>
        <p:spPr>
          <a:xfrm>
            <a:off x="3657600" y="1993392"/>
            <a:ext cx="731520" cy="548640"/>
          </a:xfrm>
          <a:prstGeom prst="rect">
            <a:avLst/>
          </a:prstGeom>
          <a:noFill/>
          <a:ln/>
        </p:spPr>
        <p:txBody>
          <a:bodyPr wrap="square" lIns="0" tIns="0" rIns="0" bIns="0" rtlCol="0" anchor="ctr"/>
          <a:lstStyle/>
          <a:p>
            <a:pPr marL="0" indent="0">
              <a:buNone/>
            </a:pPr>
            <a:r>
              <a:rPr lang="en-US" sz="2600" b="1" dirty="0">
                <a:solidFill>
                  <a:srgbClr val="E8A33D"/>
                </a:solidFill>
                <a:latin typeface="Cambria" pitchFamily="34" charset="0"/>
                <a:ea typeface="Cambria" pitchFamily="34" charset="-122"/>
                <a:cs typeface="Cambria" pitchFamily="34" charset="-120"/>
              </a:rPr>
              <a:t>2</a:t>
            </a:r>
            <a:endParaRPr lang="en-US" sz="2600" dirty="0"/>
          </a:p>
        </p:txBody>
      </p:sp>
      <p:sp>
        <p:nvSpPr>
          <p:cNvPr id="11" name="Text 9"/>
          <p:cNvSpPr/>
          <p:nvPr/>
        </p:nvSpPr>
        <p:spPr>
          <a:xfrm>
            <a:off x="3657600" y="2560320"/>
            <a:ext cx="2240280" cy="3200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Encoding</a:t>
            </a:r>
            <a:endParaRPr lang="en-US" sz="1500" dirty="0"/>
          </a:p>
        </p:txBody>
      </p:sp>
      <p:sp>
        <p:nvSpPr>
          <p:cNvPr id="12" name="Text 10"/>
          <p:cNvSpPr/>
          <p:nvPr/>
        </p:nvSpPr>
        <p:spPr>
          <a:xfrm>
            <a:off x="3657600" y="2926080"/>
            <a:ext cx="2240280" cy="1188720"/>
          </a:xfrm>
          <a:prstGeom prst="rect">
            <a:avLst/>
          </a:prstGeom>
          <a:noFill/>
          <a:ln/>
        </p:spPr>
        <p:txBody>
          <a:bodyPr wrap="square" lIns="0" tIns="0" rIns="0" bIns="0" rtlCol="0" anchor="t"/>
          <a:lstStyle/>
          <a:p>
            <a:pPr marL="0" indent="0">
              <a:buNone/>
            </a:pPr>
            <a:r>
              <a:rPr lang="en-US" sz="1100" dirty="0">
                <a:solidFill>
                  <a:srgbClr val="AEB8C4"/>
                </a:solidFill>
                <a:latin typeface="Calibri" pitchFamily="34" charset="0"/>
                <a:ea typeface="Calibri" pitchFamily="34" charset="-122"/>
                <a:cs typeface="Calibri" pitchFamily="34" charset="-120"/>
              </a:rPr>
              <a:t>Convert categorical fields (machine_type, operating_mode) into numerical form.</a:t>
            </a:r>
            <a:endParaRPr lang="en-US" sz="1100" dirty="0"/>
          </a:p>
        </p:txBody>
      </p:sp>
      <p:sp>
        <p:nvSpPr>
          <p:cNvPr id="13" name="Shape 11"/>
          <p:cNvSpPr/>
          <p:nvPr/>
        </p:nvSpPr>
        <p:spPr>
          <a:xfrm>
            <a:off x="6108192" y="2916936"/>
            <a:ext cx="265176" cy="201168"/>
          </a:xfrm>
          <a:prstGeom prst="rightArrow">
            <a:avLst/>
          </a:prstGeom>
          <a:solidFill>
            <a:srgbClr val="3B6E8F"/>
          </a:solidFill>
          <a:ln/>
        </p:spPr>
        <p:txBody>
          <a:bodyPr/>
          <a:p/>
        </p:txBody>
      </p:sp>
      <p:sp>
        <p:nvSpPr>
          <p:cNvPr id="14" name="Shape 12"/>
          <p:cNvSpPr/>
          <p:nvPr/>
        </p:nvSpPr>
        <p:spPr>
          <a:xfrm>
            <a:off x="6400800" y="1828800"/>
            <a:ext cx="2606040" cy="2377440"/>
          </a:xfrm>
          <a:prstGeom prst="roundRect">
            <a:avLst>
              <a:gd name="adj" fmla="val 3077"/>
            </a:avLst>
          </a:prstGeom>
          <a:solidFill>
            <a:srgbClr val="1B2438"/>
          </a:solidFill>
          <a:ln/>
        </p:spPr>
        <p:txBody>
          <a:bodyPr/>
          <a:p/>
        </p:txBody>
      </p:sp>
      <p:sp>
        <p:nvSpPr>
          <p:cNvPr id="15" name="Text 13"/>
          <p:cNvSpPr/>
          <p:nvPr/>
        </p:nvSpPr>
        <p:spPr>
          <a:xfrm>
            <a:off x="6583680" y="1993392"/>
            <a:ext cx="731520" cy="548640"/>
          </a:xfrm>
          <a:prstGeom prst="rect">
            <a:avLst/>
          </a:prstGeom>
          <a:noFill/>
          <a:ln/>
        </p:spPr>
        <p:txBody>
          <a:bodyPr wrap="square" lIns="0" tIns="0" rIns="0" bIns="0" rtlCol="0" anchor="ctr"/>
          <a:lstStyle/>
          <a:p>
            <a:pPr marL="0" indent="0">
              <a:buNone/>
            </a:pPr>
            <a:r>
              <a:rPr lang="en-US" sz="2600" b="1" dirty="0">
                <a:solidFill>
                  <a:srgbClr val="E8A33D"/>
                </a:solidFill>
                <a:latin typeface="Cambria" pitchFamily="34" charset="0"/>
                <a:ea typeface="Cambria" pitchFamily="34" charset="-122"/>
                <a:cs typeface="Cambria" pitchFamily="34" charset="-120"/>
              </a:rPr>
              <a:t>3</a:t>
            </a:r>
            <a:endParaRPr lang="en-US" sz="2600" dirty="0"/>
          </a:p>
        </p:txBody>
      </p:sp>
      <p:sp>
        <p:nvSpPr>
          <p:cNvPr id="16" name="Text 14"/>
          <p:cNvSpPr/>
          <p:nvPr/>
        </p:nvSpPr>
        <p:spPr>
          <a:xfrm>
            <a:off x="6583680" y="2560320"/>
            <a:ext cx="2240280" cy="3200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Scaling</a:t>
            </a:r>
            <a:endParaRPr lang="en-US" sz="1500" dirty="0"/>
          </a:p>
        </p:txBody>
      </p:sp>
      <p:sp>
        <p:nvSpPr>
          <p:cNvPr id="17" name="Text 15"/>
          <p:cNvSpPr/>
          <p:nvPr/>
        </p:nvSpPr>
        <p:spPr>
          <a:xfrm>
            <a:off x="6583680" y="2926080"/>
            <a:ext cx="2240280" cy="1188720"/>
          </a:xfrm>
          <a:prstGeom prst="rect">
            <a:avLst/>
          </a:prstGeom>
          <a:noFill/>
          <a:ln/>
        </p:spPr>
        <p:txBody>
          <a:bodyPr wrap="square" lIns="0" tIns="0" rIns="0" bIns="0" rtlCol="0" anchor="t"/>
          <a:lstStyle/>
          <a:p>
            <a:pPr marL="0" indent="0">
              <a:buNone/>
            </a:pPr>
            <a:r>
              <a:rPr lang="en-US" sz="1100" dirty="0">
                <a:solidFill>
                  <a:srgbClr val="AEB8C4"/>
                </a:solidFill>
                <a:latin typeface="Calibri" pitchFamily="34" charset="0"/>
                <a:ea typeface="Calibri" pitchFamily="34" charset="-122"/>
                <a:cs typeface="Calibri" pitchFamily="34" charset="-120"/>
              </a:rPr>
              <a:t>Normalize numerical features (vibration, temperature, pressure) to a common range.</a:t>
            </a:r>
            <a:endParaRPr lang="en-US" sz="1100" dirty="0"/>
          </a:p>
        </p:txBody>
      </p:sp>
      <p:sp>
        <p:nvSpPr>
          <p:cNvPr id="18" name="Shape 16"/>
          <p:cNvSpPr/>
          <p:nvPr/>
        </p:nvSpPr>
        <p:spPr>
          <a:xfrm>
            <a:off x="9034272" y="2916936"/>
            <a:ext cx="265176" cy="201168"/>
          </a:xfrm>
          <a:prstGeom prst="rightArrow">
            <a:avLst/>
          </a:prstGeom>
          <a:solidFill>
            <a:srgbClr val="3B6E8F"/>
          </a:solidFill>
          <a:ln/>
        </p:spPr>
        <p:txBody>
          <a:bodyPr/>
          <a:p/>
        </p:txBody>
      </p:sp>
      <p:sp>
        <p:nvSpPr>
          <p:cNvPr id="19" name="Shape 17"/>
          <p:cNvSpPr/>
          <p:nvPr/>
        </p:nvSpPr>
        <p:spPr>
          <a:xfrm>
            <a:off x="9326880" y="1828800"/>
            <a:ext cx="2606040" cy="2377440"/>
          </a:xfrm>
          <a:prstGeom prst="roundRect">
            <a:avLst>
              <a:gd name="adj" fmla="val 3077"/>
            </a:avLst>
          </a:prstGeom>
          <a:solidFill>
            <a:srgbClr val="1B2438"/>
          </a:solidFill>
          <a:ln/>
        </p:spPr>
        <p:txBody>
          <a:bodyPr/>
          <a:p/>
        </p:txBody>
      </p:sp>
      <p:sp>
        <p:nvSpPr>
          <p:cNvPr id="20" name="Text 18"/>
          <p:cNvSpPr/>
          <p:nvPr/>
        </p:nvSpPr>
        <p:spPr>
          <a:xfrm>
            <a:off x="9509760" y="1993392"/>
            <a:ext cx="731520" cy="548640"/>
          </a:xfrm>
          <a:prstGeom prst="rect">
            <a:avLst/>
          </a:prstGeom>
          <a:noFill/>
          <a:ln/>
        </p:spPr>
        <p:txBody>
          <a:bodyPr wrap="square" lIns="0" tIns="0" rIns="0" bIns="0" rtlCol="0" anchor="ctr"/>
          <a:lstStyle/>
          <a:p>
            <a:pPr marL="0" indent="0">
              <a:buNone/>
            </a:pPr>
            <a:r>
              <a:rPr lang="en-US" sz="2600" b="1" dirty="0">
                <a:solidFill>
                  <a:srgbClr val="E8A33D"/>
                </a:solidFill>
                <a:latin typeface="Cambria" pitchFamily="34" charset="0"/>
                <a:ea typeface="Cambria" pitchFamily="34" charset="-122"/>
                <a:cs typeface="Cambria" pitchFamily="34" charset="-120"/>
              </a:rPr>
              <a:t>4</a:t>
            </a:r>
            <a:endParaRPr lang="en-US" sz="2600" dirty="0"/>
          </a:p>
        </p:txBody>
      </p:sp>
      <p:sp>
        <p:nvSpPr>
          <p:cNvPr id="21" name="Text 19"/>
          <p:cNvSpPr/>
          <p:nvPr/>
        </p:nvSpPr>
        <p:spPr>
          <a:xfrm>
            <a:off x="9509760" y="2560320"/>
            <a:ext cx="2240280" cy="3200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Splitting</a:t>
            </a:r>
            <a:endParaRPr lang="en-US" sz="1500" dirty="0"/>
          </a:p>
        </p:txBody>
      </p:sp>
      <p:sp>
        <p:nvSpPr>
          <p:cNvPr id="22" name="Text 20"/>
          <p:cNvSpPr/>
          <p:nvPr/>
        </p:nvSpPr>
        <p:spPr>
          <a:xfrm>
            <a:off x="9509760" y="2926080"/>
            <a:ext cx="2240280" cy="1188720"/>
          </a:xfrm>
          <a:prstGeom prst="rect">
            <a:avLst/>
          </a:prstGeom>
          <a:noFill/>
          <a:ln/>
        </p:spPr>
        <p:txBody>
          <a:bodyPr wrap="square" lIns="0" tIns="0" rIns="0" bIns="0" rtlCol="0" anchor="t"/>
          <a:lstStyle/>
          <a:p>
            <a:pPr marL="0" indent="0">
              <a:buNone/>
            </a:pPr>
            <a:r>
              <a:rPr lang="en-US" sz="1100" dirty="0">
                <a:solidFill>
                  <a:srgbClr val="AEB8C4"/>
                </a:solidFill>
                <a:latin typeface="Calibri" pitchFamily="34" charset="0"/>
                <a:ea typeface="Calibri" pitchFamily="34" charset="-122"/>
                <a:cs typeface="Calibri" pitchFamily="34" charset="-120"/>
              </a:rPr>
              <a:t>Divide data into training and testing sets, stratified by failure label.</a:t>
            </a:r>
            <a:endParaRPr lang="en-US" sz="1100" dirty="0"/>
          </a:p>
        </p:txBody>
      </p:sp>
      <p:sp>
        <p:nvSpPr>
          <p:cNvPr id="23" name="Text 21"/>
          <p:cNvSpPr/>
          <p:nvPr/>
        </p:nvSpPr>
        <p:spPr>
          <a:xfrm>
            <a:off x="548640" y="4572000"/>
            <a:ext cx="10515600" cy="457200"/>
          </a:xfrm>
          <a:prstGeom prst="rect">
            <a:avLst/>
          </a:prstGeom>
          <a:noFill/>
          <a:ln/>
        </p:spPr>
        <p:txBody>
          <a:bodyPr wrap="square" lIns="0" tIns="0" rIns="0" bIns="0" rtlCol="0" anchor="ctr"/>
          <a:lstStyle/>
          <a:p>
            <a:pPr marL="0" indent="0">
              <a:buNone/>
            </a:pPr>
            <a:r>
              <a:rPr lang="en-US" sz="1300" i="1" dirty="0">
                <a:solidFill>
                  <a:srgbClr val="5B6472"/>
                </a:solidFill>
                <a:latin typeface="Calibri" pitchFamily="34" charset="0"/>
                <a:ea typeface="Calibri" pitchFamily="34" charset="-122"/>
                <a:cs typeface="Calibri" pitchFamily="34" charset="-120"/>
              </a:rPr>
              <a:t>Pandas performs cleaning and transformation; Scikit-Learn's preprocessing utilities handle encoding, scaling, and train/test splitting.</a:t>
            </a:r>
            <a:endParaRPr lang="en-US" sz="1300" dirty="0"/>
          </a:p>
        </p:txBody>
      </p:sp>
      <p:sp>
        <p:nvSpPr>
          <p:cNvPr id="24" name="Text 22"/>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06</a:t>
            </a:r>
            <a:endParaRPr lang="en-US" sz="1000" dirty="0"/>
          </a:p>
        </p:txBody>
      </p:sp>
    </p:spTree>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3B6E8F"/>
                </a:solidFill>
                <a:latin typeface="Calibri" pitchFamily="34" charset="0"/>
                <a:ea typeface="Calibri" pitchFamily="34" charset="-122"/>
                <a:cs typeface="Calibri" pitchFamily="34" charset="-120"/>
              </a:rPr>
              <a:t>THE CORE INTELLIGENCE</a:t>
            </a:r>
            <a:endParaRPr lang="en-US" sz="120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121826"/>
                </a:solidFill>
                <a:latin typeface="Cambria" pitchFamily="34" charset="0"/>
                <a:ea typeface="Cambria" pitchFamily="34" charset="-122"/>
                <a:cs typeface="Cambria" pitchFamily="34" charset="-120"/>
              </a:rPr>
              <a:t>Machine Learning Models</a:t>
            </a:r>
            <a:endParaRPr lang="en-US" sz="3200" dirty="0"/>
          </a:p>
        </p:txBody>
      </p:sp>
      <p:sp>
        <p:nvSpPr>
          <p:cNvPr id="4" name="Shape 2"/>
          <p:cNvSpPr/>
          <p:nvPr/>
        </p:nvSpPr>
        <p:spPr>
          <a:xfrm>
            <a:off x="548640" y="1645920"/>
            <a:ext cx="5394960" cy="4206240"/>
          </a:xfrm>
          <a:prstGeom prst="roundRect">
            <a:avLst>
              <a:gd name="adj" fmla="val 1739"/>
            </a:avLst>
          </a:prstGeom>
          <a:solidFill>
            <a:srgbClr val="FFFFFF"/>
          </a:solidFill>
          <a:ln w="12700">
            <a:solidFill>
              <a:srgbClr val="E2E6EC"/>
            </a:solidFill>
            <a:prstDash val="solid"/>
          </a:ln>
          <a:effectLst>
            <a:outerShdw blurRad="101600" dist="38100" dir="5400000" algn="bl" rotWithShape="0">
              <a:srgbClr val="0B0F17">
                <a:alpha val="35000"/>
              </a:srgbClr>
            </a:outerShdw>
          </a:effectLst>
        </p:spPr>
        <p:txBody>
          <a:bodyPr/>
          <a:p/>
        </p:txBody>
      </p:sp>
      <p:sp>
        <p:nvSpPr>
          <p:cNvPr id="5" name="Shape 3"/>
          <p:cNvSpPr/>
          <p:nvPr/>
        </p:nvSpPr>
        <p:spPr>
          <a:xfrm>
            <a:off x="548640" y="1645920"/>
            <a:ext cx="5394960" cy="502920"/>
          </a:xfrm>
          <a:prstGeom prst="roundRect">
            <a:avLst>
              <a:gd name="adj" fmla="val 14545"/>
            </a:avLst>
          </a:prstGeom>
          <a:solidFill>
            <a:srgbClr val="3B6E8F"/>
          </a:solidFill>
          <a:ln/>
        </p:spPr>
        <p:txBody>
          <a:bodyPr/>
          <a:p/>
        </p:txBody>
      </p:sp>
      <p:sp>
        <p:nvSpPr>
          <p:cNvPr id="6" name="Text 4"/>
          <p:cNvSpPr/>
          <p:nvPr/>
        </p:nvSpPr>
        <p:spPr>
          <a:xfrm>
            <a:off x="822960" y="1645920"/>
            <a:ext cx="4937760" cy="5029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MODEL 1  ·  Failure Prediction</a:t>
            </a:r>
            <a:endParaRPr lang="en-US" sz="1500" dirty="0"/>
          </a:p>
        </p:txBody>
      </p:sp>
      <p:sp>
        <p:nvSpPr>
          <p:cNvPr id="7" name="Text 5"/>
          <p:cNvSpPr/>
          <p:nvPr/>
        </p:nvSpPr>
        <p:spPr>
          <a:xfrm>
            <a:off x="822960" y="2331720"/>
            <a:ext cx="4846320" cy="548640"/>
          </a:xfrm>
          <a:prstGeom prst="rect">
            <a:avLst/>
          </a:prstGeom>
          <a:noFill/>
          <a:ln/>
        </p:spPr>
        <p:txBody>
          <a:bodyPr wrap="square" lIns="0" tIns="0" rIns="0" bIns="0" rtlCol="0" anchor="ctr"/>
          <a:lstStyle/>
          <a:p>
            <a:pPr marL="0" indent="0">
              <a:buNone/>
            </a:pPr>
            <a:r>
              <a:rPr lang="en-US" sz="1250" dirty="0">
                <a:solidFill>
                  <a:srgbClr val="5B6472"/>
                </a:solidFill>
                <a:latin typeface="Calibri" pitchFamily="34" charset="0"/>
                <a:ea typeface="Calibri" pitchFamily="34" charset="-122"/>
                <a:cs typeface="Calibri" pitchFamily="34" charset="-120"/>
              </a:rPr>
              <a:t>Binary classifier trained on labeled sensor windows to flag imminent risk.</a:t>
            </a:r>
            <a:endParaRPr lang="en-US" sz="1250" dirty="0"/>
          </a:p>
        </p:txBody>
      </p:sp>
      <p:sp>
        <p:nvSpPr>
          <p:cNvPr id="8" name="Shape 6"/>
          <p:cNvSpPr/>
          <p:nvPr/>
        </p:nvSpPr>
        <p:spPr>
          <a:xfrm>
            <a:off x="822960" y="3063240"/>
            <a:ext cx="502920" cy="502920"/>
          </a:xfrm>
          <a:prstGeom prst="ellipse">
            <a:avLst/>
          </a:prstGeom>
          <a:solidFill>
            <a:srgbClr val="3B6E8F"/>
          </a:solidFill>
          <a:ln/>
        </p:spPr>
        <p:txBody>
          <a:bodyPr/>
          <a:p/>
        </p:txBody>
      </p:sp>
      <p:sp>
        <p:nvSpPr>
          <p:cNvPr id="9" name="Text 7"/>
          <p:cNvSpPr/>
          <p:nvPr/>
        </p:nvSpPr>
        <p:spPr>
          <a:xfrm>
            <a:off x="822960" y="3063240"/>
            <a:ext cx="502920" cy="502920"/>
          </a:xfrm>
          <a:prstGeom prst="rect">
            <a:avLst/>
          </a:prstGeom>
          <a:noFill/>
          <a:ln/>
        </p:spPr>
        <p:txBody>
          <a:bodyPr wrap="square" lIns="0" tIns="0" rIns="0" bIns="0" rtlCol="0" anchor="ctr"/>
          <a:lstStyle/>
          <a:p>
            <a:pPr marL="0" indent="0" algn="ctr">
              <a:buNone/>
            </a:pPr>
            <a:r>
              <a:rPr lang="en-US" sz="1430" b="1" dirty="0">
                <a:solidFill>
                  <a:srgbClr val="FFFFFF"/>
                </a:solidFill>
                <a:latin typeface="Calibri" pitchFamily="34" charset="0"/>
                <a:ea typeface="Calibri" pitchFamily="34" charset="-122"/>
                <a:cs typeface="Calibri" pitchFamily="34" charset="-120"/>
              </a:rPr>
              <a:t>0</a:t>
            </a:r>
            <a:endParaRPr lang="en-US" sz="1430" dirty="0"/>
          </a:p>
        </p:txBody>
      </p:sp>
      <p:sp>
        <p:nvSpPr>
          <p:cNvPr id="10" name="Text 8"/>
          <p:cNvSpPr/>
          <p:nvPr/>
        </p:nvSpPr>
        <p:spPr>
          <a:xfrm>
            <a:off x="1508760" y="3063240"/>
            <a:ext cx="4160520" cy="502920"/>
          </a:xfrm>
          <a:prstGeom prst="rect">
            <a:avLst/>
          </a:prstGeom>
          <a:noFill/>
          <a:ln/>
        </p:spPr>
        <p:txBody>
          <a:bodyPr wrap="square" lIns="0" tIns="0" rIns="0" bIns="0" rtlCol="0" anchor="ctr"/>
          <a:lstStyle/>
          <a:p>
            <a:pPr marL="0" indent="0">
              <a:buNone/>
            </a:pPr>
            <a:r>
              <a:rPr lang="en-US" sz="1200" dirty="0">
                <a:solidFill>
                  <a:srgbClr val="121826"/>
                </a:solidFill>
                <a:latin typeface="Calibri" pitchFamily="34" charset="0"/>
                <a:ea typeface="Calibri" pitchFamily="34" charset="-122"/>
                <a:cs typeface="Calibri" pitchFamily="34" charset="-120"/>
              </a:rPr>
              <a:t>Normal — machine operating within safe limits</a:t>
            </a:r>
            <a:endParaRPr lang="en-US" sz="1200" dirty="0"/>
          </a:p>
        </p:txBody>
      </p:sp>
      <p:sp>
        <p:nvSpPr>
          <p:cNvPr id="11" name="Shape 9"/>
          <p:cNvSpPr/>
          <p:nvPr/>
        </p:nvSpPr>
        <p:spPr>
          <a:xfrm>
            <a:off x="822960" y="3749040"/>
            <a:ext cx="502920" cy="502920"/>
          </a:xfrm>
          <a:prstGeom prst="ellipse">
            <a:avLst/>
          </a:prstGeom>
          <a:solidFill>
            <a:srgbClr val="E8A33D"/>
          </a:solidFill>
          <a:ln/>
        </p:spPr>
        <p:txBody>
          <a:bodyPr/>
          <a:p/>
        </p:txBody>
      </p:sp>
      <p:sp>
        <p:nvSpPr>
          <p:cNvPr id="12" name="Text 10"/>
          <p:cNvSpPr/>
          <p:nvPr/>
        </p:nvSpPr>
        <p:spPr>
          <a:xfrm>
            <a:off x="822960" y="3749040"/>
            <a:ext cx="502920" cy="502920"/>
          </a:xfrm>
          <a:prstGeom prst="rect">
            <a:avLst/>
          </a:prstGeom>
          <a:noFill/>
          <a:ln/>
        </p:spPr>
        <p:txBody>
          <a:bodyPr wrap="square" lIns="0" tIns="0" rIns="0" bIns="0" rtlCol="0" anchor="ctr"/>
          <a:lstStyle/>
          <a:p>
            <a:pPr marL="0" indent="0" algn="ctr">
              <a:buNone/>
            </a:pPr>
            <a:r>
              <a:rPr lang="en-US" sz="1430" b="1" dirty="0">
                <a:solidFill>
                  <a:srgbClr val="FFFFFF"/>
                </a:solidFill>
                <a:latin typeface="Calibri" pitchFamily="34" charset="0"/>
                <a:ea typeface="Calibri" pitchFamily="34" charset="-122"/>
                <a:cs typeface="Calibri" pitchFamily="34" charset="-120"/>
              </a:rPr>
              <a:t>1</a:t>
            </a:r>
            <a:endParaRPr lang="en-US" sz="1430" dirty="0"/>
          </a:p>
        </p:txBody>
      </p:sp>
      <p:sp>
        <p:nvSpPr>
          <p:cNvPr id="13" name="Text 11"/>
          <p:cNvSpPr/>
          <p:nvPr/>
        </p:nvSpPr>
        <p:spPr>
          <a:xfrm>
            <a:off x="1508760" y="3749040"/>
            <a:ext cx="4160520" cy="502920"/>
          </a:xfrm>
          <a:prstGeom prst="rect">
            <a:avLst/>
          </a:prstGeom>
          <a:noFill/>
          <a:ln/>
        </p:spPr>
        <p:txBody>
          <a:bodyPr wrap="square" lIns="0" tIns="0" rIns="0" bIns="0" rtlCol="0" anchor="ctr"/>
          <a:lstStyle/>
          <a:p>
            <a:pPr marL="0" indent="0">
              <a:buNone/>
            </a:pPr>
            <a:r>
              <a:rPr lang="en-US" sz="1200" dirty="0">
                <a:solidFill>
                  <a:srgbClr val="121826"/>
                </a:solidFill>
                <a:latin typeface="Calibri" pitchFamily="34" charset="0"/>
                <a:ea typeface="Calibri" pitchFamily="34" charset="-122"/>
                <a:cs typeface="Calibri" pitchFamily="34" charset="-120"/>
              </a:rPr>
              <a:t>Failure Risk — intervention needed within 24h</a:t>
            </a:r>
            <a:endParaRPr lang="en-US" sz="1200" dirty="0"/>
          </a:p>
        </p:txBody>
      </p:sp>
      <p:sp>
        <p:nvSpPr>
          <p:cNvPr id="14" name="Text 12"/>
          <p:cNvSpPr/>
          <p:nvPr/>
        </p:nvSpPr>
        <p:spPr>
          <a:xfrm>
            <a:off x="822960" y="5029200"/>
            <a:ext cx="4846320" cy="640080"/>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Algorithms evaluated: Random Forest, Gradient Boosting, Logistic Regression (baseline).</a:t>
            </a:r>
            <a:endParaRPr lang="en-US" sz="1150" dirty="0"/>
          </a:p>
        </p:txBody>
      </p:sp>
      <p:sp>
        <p:nvSpPr>
          <p:cNvPr id="15" name="Shape 13"/>
          <p:cNvSpPr/>
          <p:nvPr/>
        </p:nvSpPr>
        <p:spPr>
          <a:xfrm>
            <a:off x="6217920" y="1645920"/>
            <a:ext cx="5394960" cy="4206240"/>
          </a:xfrm>
          <a:prstGeom prst="roundRect">
            <a:avLst>
              <a:gd name="adj" fmla="val 1739"/>
            </a:avLst>
          </a:prstGeom>
          <a:solidFill>
            <a:srgbClr val="FFFFFF"/>
          </a:solidFill>
          <a:ln w="12700">
            <a:solidFill>
              <a:srgbClr val="E2E6EC"/>
            </a:solidFill>
            <a:prstDash val="solid"/>
          </a:ln>
          <a:effectLst>
            <a:outerShdw blurRad="101600" dist="38100" dir="5400000" algn="bl" rotWithShape="0">
              <a:srgbClr val="0B0F17">
                <a:alpha val="35000"/>
              </a:srgbClr>
            </a:outerShdw>
          </a:effectLst>
        </p:spPr>
        <p:txBody>
          <a:bodyPr/>
          <a:p/>
        </p:txBody>
      </p:sp>
      <p:sp>
        <p:nvSpPr>
          <p:cNvPr id="16" name="Shape 14"/>
          <p:cNvSpPr/>
          <p:nvPr/>
        </p:nvSpPr>
        <p:spPr>
          <a:xfrm>
            <a:off x="6217920" y="1645920"/>
            <a:ext cx="5394960" cy="502920"/>
          </a:xfrm>
          <a:prstGeom prst="roundRect">
            <a:avLst>
              <a:gd name="adj" fmla="val 14545"/>
            </a:avLst>
          </a:prstGeom>
          <a:solidFill>
            <a:srgbClr val="121826"/>
          </a:solidFill>
          <a:ln/>
        </p:spPr>
        <p:txBody>
          <a:bodyPr/>
          <a:p/>
        </p:txBody>
      </p:sp>
      <p:sp>
        <p:nvSpPr>
          <p:cNvPr id="17" name="Text 15"/>
          <p:cNvSpPr/>
          <p:nvPr/>
        </p:nvSpPr>
        <p:spPr>
          <a:xfrm>
            <a:off x="6492240" y="1645920"/>
            <a:ext cx="4937760" cy="5029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MODEL 2  ·  Failure Type Classification</a:t>
            </a:r>
            <a:endParaRPr lang="en-US" sz="1500" dirty="0"/>
          </a:p>
        </p:txBody>
      </p:sp>
      <p:sp>
        <p:nvSpPr>
          <p:cNvPr id="18" name="Text 16"/>
          <p:cNvSpPr/>
          <p:nvPr/>
        </p:nvSpPr>
        <p:spPr>
          <a:xfrm>
            <a:off x="6492240" y="2331720"/>
            <a:ext cx="4846320" cy="548640"/>
          </a:xfrm>
          <a:prstGeom prst="rect">
            <a:avLst/>
          </a:prstGeom>
          <a:noFill/>
          <a:ln/>
        </p:spPr>
        <p:txBody>
          <a:bodyPr wrap="square" lIns="0" tIns="0" rIns="0" bIns="0" rtlCol="0" anchor="ctr"/>
          <a:lstStyle/>
          <a:p>
            <a:pPr marL="0" indent="0">
              <a:buNone/>
            </a:pPr>
            <a:r>
              <a:rPr lang="en-US" sz="1250" dirty="0">
                <a:solidFill>
                  <a:srgbClr val="5B6472"/>
                </a:solidFill>
                <a:latin typeface="Calibri" pitchFamily="34" charset="0"/>
                <a:ea typeface="Calibri" pitchFamily="34" charset="-122"/>
                <a:cs typeface="Calibri" pitchFamily="34" charset="-120"/>
              </a:rPr>
              <a:t>Multi-class classifier that pinpoints the likely failure mode when risk is flagged.</a:t>
            </a:r>
            <a:endParaRPr lang="en-US" sz="1250" dirty="0"/>
          </a:p>
        </p:txBody>
      </p:sp>
      <p:sp>
        <p:nvSpPr>
          <p:cNvPr id="19" name="Shape 17"/>
          <p:cNvSpPr/>
          <p:nvPr/>
        </p:nvSpPr>
        <p:spPr>
          <a:xfrm>
            <a:off x="6492240" y="3108960"/>
            <a:ext cx="128016" cy="128016"/>
          </a:xfrm>
          <a:prstGeom prst="roundRect">
            <a:avLst>
              <a:gd name="adj" fmla="val 50000"/>
            </a:avLst>
          </a:prstGeom>
          <a:solidFill>
            <a:srgbClr val="E8A33D"/>
          </a:solidFill>
          <a:ln/>
        </p:spPr>
        <p:txBody>
          <a:bodyPr/>
          <a:p/>
        </p:txBody>
      </p:sp>
      <p:sp>
        <p:nvSpPr>
          <p:cNvPr id="20" name="Text 18"/>
          <p:cNvSpPr/>
          <p:nvPr/>
        </p:nvSpPr>
        <p:spPr>
          <a:xfrm>
            <a:off x="6766560" y="3063240"/>
            <a:ext cx="4480560" cy="256032"/>
          </a:xfrm>
          <a:prstGeom prst="rect">
            <a:avLst/>
          </a:prstGeom>
          <a:noFill/>
          <a:ln/>
        </p:spPr>
        <p:txBody>
          <a:bodyPr wrap="square" lIns="0" tIns="0" rIns="0" bIns="0" rtlCol="0" anchor="ctr"/>
          <a:lstStyle/>
          <a:p>
            <a:pPr marL="0" indent="0">
              <a:buNone/>
            </a:pPr>
            <a:r>
              <a:rPr lang="en-US" sz="1250" b="1" dirty="0">
                <a:solidFill>
                  <a:srgbClr val="121826"/>
                </a:solidFill>
                <a:latin typeface="Calibri" pitchFamily="34" charset="0"/>
                <a:ea typeface="Calibri" pitchFamily="34" charset="-122"/>
                <a:cs typeface="Calibri" pitchFamily="34" charset="-120"/>
              </a:rPr>
              <a:t>Bearing Failure</a:t>
            </a:r>
            <a:endParaRPr lang="en-US" sz="1250" dirty="0"/>
          </a:p>
        </p:txBody>
      </p:sp>
      <p:sp>
        <p:nvSpPr>
          <p:cNvPr id="21" name="Shape 19"/>
          <p:cNvSpPr/>
          <p:nvPr/>
        </p:nvSpPr>
        <p:spPr>
          <a:xfrm>
            <a:off x="6492240" y="3438144"/>
            <a:ext cx="128016" cy="128016"/>
          </a:xfrm>
          <a:prstGeom prst="roundRect">
            <a:avLst>
              <a:gd name="adj" fmla="val 50000"/>
            </a:avLst>
          </a:prstGeom>
          <a:solidFill>
            <a:srgbClr val="E8A33D"/>
          </a:solidFill>
          <a:ln/>
        </p:spPr>
        <p:txBody>
          <a:bodyPr/>
          <a:p/>
        </p:txBody>
      </p:sp>
      <p:sp>
        <p:nvSpPr>
          <p:cNvPr id="22" name="Text 20"/>
          <p:cNvSpPr/>
          <p:nvPr/>
        </p:nvSpPr>
        <p:spPr>
          <a:xfrm>
            <a:off x="6766560" y="3392424"/>
            <a:ext cx="4480560" cy="256032"/>
          </a:xfrm>
          <a:prstGeom prst="rect">
            <a:avLst/>
          </a:prstGeom>
          <a:noFill/>
          <a:ln/>
        </p:spPr>
        <p:txBody>
          <a:bodyPr wrap="square" lIns="0" tIns="0" rIns="0" bIns="0" rtlCol="0" anchor="ctr"/>
          <a:lstStyle/>
          <a:p>
            <a:pPr marL="0" indent="0">
              <a:buNone/>
            </a:pPr>
            <a:r>
              <a:rPr lang="en-US" sz="1250" b="1" dirty="0">
                <a:solidFill>
                  <a:srgbClr val="121826"/>
                </a:solidFill>
                <a:latin typeface="Calibri" pitchFamily="34" charset="0"/>
                <a:ea typeface="Calibri" pitchFamily="34" charset="-122"/>
                <a:cs typeface="Calibri" pitchFamily="34" charset="-120"/>
              </a:rPr>
              <a:t>Electrical Failure</a:t>
            </a:r>
            <a:endParaRPr lang="en-US" sz="1250" dirty="0"/>
          </a:p>
        </p:txBody>
      </p:sp>
      <p:sp>
        <p:nvSpPr>
          <p:cNvPr id="23" name="Shape 21"/>
          <p:cNvSpPr/>
          <p:nvPr/>
        </p:nvSpPr>
        <p:spPr>
          <a:xfrm>
            <a:off x="6492240" y="3767328"/>
            <a:ext cx="128016" cy="128016"/>
          </a:xfrm>
          <a:prstGeom prst="roundRect">
            <a:avLst>
              <a:gd name="adj" fmla="val 50000"/>
            </a:avLst>
          </a:prstGeom>
          <a:solidFill>
            <a:srgbClr val="E8A33D"/>
          </a:solidFill>
          <a:ln/>
        </p:spPr>
        <p:txBody>
          <a:bodyPr/>
          <a:p/>
        </p:txBody>
      </p:sp>
      <p:sp>
        <p:nvSpPr>
          <p:cNvPr id="24" name="Text 22"/>
          <p:cNvSpPr/>
          <p:nvPr/>
        </p:nvSpPr>
        <p:spPr>
          <a:xfrm>
            <a:off x="6766560" y="3721608"/>
            <a:ext cx="4480560" cy="256032"/>
          </a:xfrm>
          <a:prstGeom prst="rect">
            <a:avLst/>
          </a:prstGeom>
          <a:noFill/>
          <a:ln/>
        </p:spPr>
        <p:txBody>
          <a:bodyPr wrap="square" lIns="0" tIns="0" rIns="0" bIns="0" rtlCol="0" anchor="ctr"/>
          <a:lstStyle/>
          <a:p>
            <a:pPr marL="0" indent="0">
              <a:buNone/>
            </a:pPr>
            <a:r>
              <a:rPr lang="en-US" sz="1250" b="1" dirty="0">
                <a:solidFill>
                  <a:srgbClr val="121826"/>
                </a:solidFill>
                <a:latin typeface="Calibri" pitchFamily="34" charset="0"/>
                <a:ea typeface="Calibri" pitchFamily="34" charset="-122"/>
                <a:cs typeface="Calibri" pitchFamily="34" charset="-120"/>
              </a:rPr>
              <a:t>Hydraulic Failure</a:t>
            </a:r>
            <a:endParaRPr lang="en-US" sz="1250" dirty="0"/>
          </a:p>
        </p:txBody>
      </p:sp>
      <p:sp>
        <p:nvSpPr>
          <p:cNvPr id="25" name="Shape 23"/>
          <p:cNvSpPr/>
          <p:nvPr/>
        </p:nvSpPr>
        <p:spPr>
          <a:xfrm>
            <a:off x="6492240" y="4096512"/>
            <a:ext cx="128016" cy="128016"/>
          </a:xfrm>
          <a:prstGeom prst="roundRect">
            <a:avLst>
              <a:gd name="adj" fmla="val 50000"/>
            </a:avLst>
          </a:prstGeom>
          <a:solidFill>
            <a:srgbClr val="E8A33D"/>
          </a:solidFill>
          <a:ln/>
        </p:spPr>
        <p:txBody>
          <a:bodyPr/>
          <a:p/>
        </p:txBody>
      </p:sp>
      <p:sp>
        <p:nvSpPr>
          <p:cNvPr id="26" name="Text 24"/>
          <p:cNvSpPr/>
          <p:nvPr/>
        </p:nvSpPr>
        <p:spPr>
          <a:xfrm>
            <a:off x="6766560" y="4050792"/>
            <a:ext cx="4480560" cy="256032"/>
          </a:xfrm>
          <a:prstGeom prst="rect">
            <a:avLst/>
          </a:prstGeom>
          <a:noFill/>
          <a:ln/>
        </p:spPr>
        <p:txBody>
          <a:bodyPr wrap="square" lIns="0" tIns="0" rIns="0" bIns="0" rtlCol="0" anchor="ctr"/>
          <a:lstStyle/>
          <a:p>
            <a:pPr marL="0" indent="0">
              <a:buNone/>
            </a:pPr>
            <a:r>
              <a:rPr lang="en-US" sz="1250" b="1" dirty="0">
                <a:solidFill>
                  <a:srgbClr val="121826"/>
                </a:solidFill>
                <a:latin typeface="Calibri" pitchFamily="34" charset="0"/>
                <a:ea typeface="Calibri" pitchFamily="34" charset="-122"/>
                <a:cs typeface="Calibri" pitchFamily="34" charset="-120"/>
              </a:rPr>
              <a:t>Motor Overheat</a:t>
            </a:r>
            <a:endParaRPr lang="en-US" sz="1250" dirty="0"/>
          </a:p>
        </p:txBody>
      </p:sp>
      <p:sp>
        <p:nvSpPr>
          <p:cNvPr id="28" name="Text 26"/>
          <p:cNvSpPr/>
          <p:nvPr/>
        </p:nvSpPr>
        <p:spPr>
          <a:xfrm>
            <a:off x="6766560" y="4379976"/>
            <a:ext cx="4480560" cy="256032"/>
          </a:xfrm>
          <a:prstGeom prst="rect">
            <a:avLst/>
          </a:prstGeom>
          <a:noFill/>
          <a:ln/>
        </p:spPr>
        <p:txBody>
          <a:bodyPr wrap="square" lIns="0" tIns="0" rIns="0" bIns="0" rtlCol="0" anchor="ctr"/>
          <a:lstStyle/>
          <a:p>
            <a:pPr marL="0" indent="0">
              <a:buNone/>
            </a:pPr>
            <a:endParaRPr lang="en-US" sz="1250" dirty="0"/>
          </a:p>
        </p:txBody>
      </p:sp>
      <p:sp>
        <p:nvSpPr>
          <p:cNvPr id="29" name="Text 27"/>
          <p:cNvSpPr/>
          <p:nvPr/>
        </p:nvSpPr>
        <p:spPr>
          <a:xfrm>
            <a:off x="6492240" y="5029200"/>
            <a:ext cx="4846320" cy="640080"/>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Algorithm: Random Forest (multi-class), chosen for interpretability and robustness on tabular sensor data.</a:t>
            </a:r>
            <a:endParaRPr lang="en-US" sz="1150" dirty="0"/>
          </a:p>
        </p:txBody>
      </p:sp>
      <p:sp>
        <p:nvSpPr>
          <p:cNvPr id="30" name="Text 28"/>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08</a:t>
            </a:r>
            <a:endParaRPr lang="en-US" sz="1000" dirty="0"/>
          </a:p>
        </p:txBody>
      </p:sp>
    </p:spTree>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3B6E8F"/>
                </a:solidFill>
                <a:latin typeface="Calibri" pitchFamily="34" charset="0"/>
                <a:ea typeface="Calibri" pitchFamily="34" charset="-122"/>
                <a:cs typeface="Calibri" pitchFamily="34" charset="-120"/>
              </a:rPr>
              <a:t>HOW WE MEASURED SUCCESS</a:t>
            </a:r>
            <a:endParaRPr lang="en-US" sz="120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121826"/>
                </a:solidFill>
                <a:latin typeface="Cambria" pitchFamily="34" charset="0"/>
                <a:ea typeface="Cambria" pitchFamily="34" charset="-122"/>
                <a:cs typeface="Cambria" pitchFamily="34" charset="-120"/>
              </a:rPr>
              <a:t>Model Evaluation Metrics</a:t>
            </a:r>
            <a:endParaRPr lang="en-US" sz="3200" dirty="0"/>
          </a:p>
        </p:txBody>
      </p:sp>
      <p:graphicFrame>
        <p:nvGraphicFramePr>
          <p:cNvPr id="4" name="Chart 0"/>
          <p:cNvGraphicFramePr/>
          <p:nvPr/>
        </p:nvGraphicFramePr>
        <p:xfrm>
          <a:off x="548640" y="1645920"/>
          <a:ext cx="66751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452360" y="1645920"/>
            <a:ext cx="4160520" cy="4206240"/>
          </a:xfrm>
          <a:prstGeom prst="roundRect">
            <a:avLst>
              <a:gd name="adj" fmla="val 1758"/>
            </a:avLst>
          </a:prstGeom>
          <a:solidFill>
            <a:srgbClr val="121826"/>
          </a:solidFill>
          <a:ln/>
          <a:effectLst>
            <a:outerShdw blurRad="101600" dist="38100" dir="5400000" algn="bl" rotWithShape="0">
              <a:srgbClr val="0B0F17">
                <a:alpha val="35000"/>
              </a:srgbClr>
            </a:outerShdw>
          </a:effectLst>
        </p:spPr>
        <p:txBody>
          <a:bodyPr/>
          <a:p/>
        </p:txBody>
      </p:sp>
      <p:sp>
        <p:nvSpPr>
          <p:cNvPr id="6" name="Text 3"/>
          <p:cNvSpPr/>
          <p:nvPr/>
        </p:nvSpPr>
        <p:spPr>
          <a:xfrm>
            <a:off x="7772400" y="1920240"/>
            <a:ext cx="3566160" cy="274320"/>
          </a:xfrm>
          <a:prstGeom prst="rect">
            <a:avLst/>
          </a:prstGeom>
          <a:noFill/>
          <a:ln/>
        </p:spPr>
        <p:txBody>
          <a:bodyPr wrap="square" lIns="0" tIns="0" rIns="0" bIns="0" rtlCol="0" anchor="ctr"/>
          <a:lstStyle/>
          <a:p>
            <a:pPr marL="0" indent="0">
              <a:buNone/>
            </a:pPr>
            <a:r>
              <a:rPr lang="en-US" sz="1100" b="1" kern="0" spc="150" dirty="0">
                <a:solidFill>
                  <a:srgbClr val="E8A33D"/>
                </a:solidFill>
                <a:latin typeface="Calibri" pitchFamily="34" charset="0"/>
                <a:ea typeface="Calibri" pitchFamily="34" charset="-122"/>
                <a:cs typeface="Calibri" pitchFamily="34" charset="-120"/>
              </a:rPr>
              <a:t>EVALUATION APPROACH</a:t>
            </a:r>
            <a:endParaRPr lang="en-US" sz="1100" dirty="0"/>
          </a:p>
        </p:txBody>
      </p:sp>
      <p:sp>
        <p:nvSpPr>
          <p:cNvPr id="7" name="Text 4"/>
          <p:cNvSpPr/>
          <p:nvPr/>
        </p:nvSpPr>
        <p:spPr>
          <a:xfrm>
            <a:off x="7772400" y="2286000"/>
            <a:ext cx="3566160" cy="3383280"/>
          </a:xfrm>
          <a:prstGeom prst="rect">
            <a:avLst/>
          </a:prstGeom>
          <a:noFill/>
          <a:ln/>
        </p:spPr>
        <p:txBody>
          <a:bodyPr wrap="square" lIns="0" tIns="0" rIns="0" bIns="0" rtlCol="0" anchor="t"/>
          <a:lstStyle/>
          <a:p>
            <a:pPr marL="228600" indent="-228600">
              <a:lnSpc>
                <a:spcPct val="110000"/>
              </a:lnSpc>
              <a:spcAft>
                <a:spcPts val="1200"/>
              </a:spcAft>
              <a:buSzPct val="100000"/>
              <a:buChar char="▪"/>
            </a:pPr>
            <a:r>
              <a:rPr lang="en-US" sz="1250" dirty="0">
                <a:solidFill>
                  <a:srgbClr val="AEB8C4"/>
                </a:solidFill>
                <a:latin typeface="Calibri" pitchFamily="34" charset="0"/>
                <a:ea typeface="Calibri" pitchFamily="34" charset="-122"/>
                <a:cs typeface="Calibri" pitchFamily="34" charset="-120"/>
              </a:rPr>
              <a:t>Stratified k-fold cross-validation to handle class imbalance.</a:t>
            </a:r>
            <a:endParaRPr lang="en-US" sz="1250" dirty="0"/>
          </a:p>
          <a:p>
            <a:pPr marL="228600" indent="-228600">
              <a:lnSpc>
                <a:spcPct val="110000"/>
              </a:lnSpc>
              <a:spcAft>
                <a:spcPts val="1200"/>
              </a:spcAft>
              <a:buSzPct val="100000"/>
              <a:buChar char="▪"/>
            </a:pPr>
            <a:r>
              <a:rPr lang="en-US" sz="1250" dirty="0">
                <a:solidFill>
                  <a:srgbClr val="AEB8C4"/>
                </a:solidFill>
                <a:latin typeface="Calibri" pitchFamily="34" charset="0"/>
                <a:ea typeface="Calibri" pitchFamily="34" charset="-122"/>
                <a:cs typeface="Calibri" pitchFamily="34" charset="-120"/>
              </a:rPr>
              <a:t>Confusion matrix reviewed per failure type.</a:t>
            </a:r>
            <a:endParaRPr lang="en-US" sz="1250" dirty="0"/>
          </a:p>
          <a:p>
            <a:pPr marL="228600" indent="-228600">
              <a:lnSpc>
                <a:spcPct val="110000"/>
              </a:lnSpc>
              <a:spcAft>
                <a:spcPts val="1200"/>
              </a:spcAft>
              <a:buSzPct val="100000"/>
              <a:buChar char="▪"/>
            </a:pPr>
            <a:r>
              <a:rPr lang="en-US" sz="1250" dirty="0">
                <a:solidFill>
                  <a:srgbClr val="AEB8C4"/>
                </a:solidFill>
                <a:latin typeface="Calibri" pitchFamily="34" charset="0"/>
                <a:ea typeface="Calibri" pitchFamily="34" charset="-122"/>
                <a:cs typeface="Calibri" pitchFamily="34" charset="-120"/>
              </a:rPr>
              <a:t>Recall prioritized over precision — missing a real failure is costlier than a false alarm.</a:t>
            </a:r>
            <a:endParaRPr lang="en-US" sz="1250" dirty="0"/>
          </a:p>
          <a:p>
            <a:pPr marL="228600" indent="-228600">
              <a:lnSpc>
                <a:spcPct val="110000"/>
              </a:lnSpc>
              <a:spcAft>
                <a:spcPts val="1200"/>
              </a:spcAft>
              <a:buSzPct val="100000"/>
              <a:buChar char="▪"/>
            </a:pPr>
            <a:r>
              <a:rPr lang="en-US" sz="1250" dirty="0">
                <a:solidFill>
                  <a:srgbClr val="AEB8C4"/>
                </a:solidFill>
                <a:latin typeface="Calibri" pitchFamily="34" charset="0"/>
                <a:ea typeface="Calibri" pitchFamily="34" charset="-122"/>
                <a:cs typeface="Calibri" pitchFamily="34" charset="-120"/>
              </a:rPr>
              <a:t>Metrics tracked on a held-out test set, unseen during training.</a:t>
            </a:r>
            <a:endParaRPr lang="en-US" sz="1250" dirty="0"/>
          </a:p>
        </p:txBody>
      </p:sp>
      <p:sp>
        <p:nvSpPr>
          <p:cNvPr id="8" name="Text 5"/>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09</a:t>
            </a:r>
            <a:endParaRPr lang="en-US" sz="1000" dirty="0"/>
          </a:p>
        </p:txBody>
      </p:sp>
    </p:spTree>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3B6E8F"/>
                </a:solidFill>
                <a:latin typeface="Calibri" pitchFamily="34" charset="0"/>
                <a:ea typeface="Calibri" pitchFamily="34" charset="-122"/>
                <a:cs typeface="Calibri" pitchFamily="34" charset="-120"/>
              </a:rPr>
              <a:t>ORCHESTRATION</a:t>
            </a:r>
            <a:endParaRPr lang="en-US" sz="120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121826"/>
                </a:solidFill>
                <a:latin typeface="Cambria" pitchFamily="34" charset="0"/>
                <a:ea typeface="Cambria" pitchFamily="34" charset="-122"/>
                <a:cs typeface="Cambria" pitchFamily="34" charset="-120"/>
              </a:rPr>
              <a:t>n8n Automation Workflow</a:t>
            </a:r>
            <a:endParaRPr lang="en-US" sz="3200" dirty="0"/>
          </a:p>
        </p:txBody>
      </p:sp>
      <p:sp>
        <p:nvSpPr>
          <p:cNvPr id="5" name="Text 3"/>
          <p:cNvSpPr/>
          <p:nvPr/>
        </p:nvSpPr>
        <p:spPr>
          <a:xfrm>
            <a:off x="649224" y="2130552"/>
            <a:ext cx="1746504" cy="640080"/>
          </a:xfrm>
          <a:prstGeom prst="rect">
            <a:avLst/>
          </a:prstGeom>
          <a:noFill/>
          <a:ln/>
        </p:spPr>
        <p:txBody>
          <a:bodyPr wrap="square" lIns="0" tIns="0" rIns="0" bIns="0" rtlCol="0" anchor="ctr"/>
          <a:lstStyle/>
          <a:p>
            <a:pPr marL="0" indent="0" algn="ctr">
              <a:buNone/>
            </a:pPr>
            <a:endParaRPr lang="en-US" sz="1350" dirty="0"/>
          </a:p>
        </p:txBody>
      </p:sp>
      <p:sp>
        <p:nvSpPr>
          <p:cNvPr id="6" name="Text 4"/>
          <p:cNvSpPr/>
          <p:nvPr/>
        </p:nvSpPr>
        <p:spPr>
          <a:xfrm>
            <a:off x="9252311" y="6720840"/>
            <a:ext cx="1746504" cy="594360"/>
          </a:xfrm>
          <a:prstGeom prst="rect">
            <a:avLst/>
          </a:prstGeom>
          <a:noFill/>
          <a:ln/>
        </p:spPr>
        <p:txBody>
          <a:bodyPr wrap="square" lIns="0" tIns="0" rIns="0" bIns="0" rtlCol="0" anchor="t"/>
          <a:lstStyle/>
          <a:p>
            <a:pPr marL="0" indent="0" algn="ctr">
              <a:buNone/>
            </a:pPr>
            <a:endParaRPr lang="en-US" sz="1000" dirty="0">
              <a:solidFill>
                <a:srgbClr val="5B6472"/>
              </a:solidFill>
              <a:latin typeface="Calibri" pitchFamily="34" charset="0"/>
              <a:ea typeface="Calibri" pitchFamily="34" charset="-122"/>
              <a:cs typeface="Calibri" pitchFamily="34" charset="-120"/>
            </a:endParaRPr>
          </a:p>
        </p:txBody>
      </p:sp>
      <p:sp>
        <p:nvSpPr>
          <p:cNvPr id="9" name="Text 7"/>
          <p:cNvSpPr/>
          <p:nvPr/>
        </p:nvSpPr>
        <p:spPr>
          <a:xfrm>
            <a:off x="2935224" y="2130552"/>
            <a:ext cx="1746504" cy="640080"/>
          </a:xfrm>
          <a:prstGeom prst="rect">
            <a:avLst/>
          </a:prstGeom>
          <a:noFill/>
          <a:ln/>
        </p:spPr>
        <p:txBody>
          <a:bodyPr wrap="square" lIns="0" tIns="0" rIns="0" bIns="0" rtlCol="0" anchor="ctr"/>
          <a:lstStyle/>
          <a:p>
            <a:pPr marL="0" indent="0" algn="ctr">
              <a:buNone/>
            </a:pPr>
            <a:endParaRPr lang="en-US" sz="1350" dirty="0"/>
          </a:p>
        </p:txBody>
      </p:sp>
      <p:sp>
        <p:nvSpPr>
          <p:cNvPr id="10" name="Text 8"/>
          <p:cNvSpPr/>
          <p:nvPr/>
        </p:nvSpPr>
        <p:spPr>
          <a:xfrm>
            <a:off x="2935224" y="2834640"/>
            <a:ext cx="1746504" cy="594360"/>
          </a:xfrm>
          <a:prstGeom prst="rect">
            <a:avLst/>
          </a:prstGeom>
          <a:noFill/>
          <a:ln/>
        </p:spPr>
        <p:txBody>
          <a:bodyPr wrap="square" lIns="0" tIns="0" rIns="0" bIns="0" rtlCol="0" anchor="t"/>
          <a:lstStyle/>
          <a:p>
            <a:pPr marL="0" indent="0" algn="ctr">
              <a:buNone/>
            </a:pPr>
            <a:endParaRPr lang="en-US" sz="1000" dirty="0"/>
          </a:p>
        </p:txBody>
      </p:sp>
      <p:sp>
        <p:nvSpPr>
          <p:cNvPr id="13" name="Text 11"/>
          <p:cNvSpPr/>
          <p:nvPr/>
        </p:nvSpPr>
        <p:spPr>
          <a:xfrm>
            <a:off x="5221224" y="2130552"/>
            <a:ext cx="1746504" cy="640080"/>
          </a:xfrm>
          <a:prstGeom prst="rect">
            <a:avLst/>
          </a:prstGeom>
          <a:noFill/>
          <a:ln/>
        </p:spPr>
        <p:txBody>
          <a:bodyPr wrap="square" lIns="0" tIns="0" rIns="0" bIns="0" rtlCol="0" anchor="ctr"/>
          <a:lstStyle/>
          <a:p>
            <a:pPr marL="0" indent="0" algn="ctr">
              <a:buNone/>
            </a:pPr>
            <a:endParaRPr lang="en-US" sz="1350" dirty="0"/>
          </a:p>
        </p:txBody>
      </p:sp>
      <p:sp>
        <p:nvSpPr>
          <p:cNvPr id="14" name="Text 12"/>
          <p:cNvSpPr/>
          <p:nvPr/>
        </p:nvSpPr>
        <p:spPr>
          <a:xfrm>
            <a:off x="5221224" y="2834640"/>
            <a:ext cx="1746504" cy="594360"/>
          </a:xfrm>
          <a:prstGeom prst="rect">
            <a:avLst/>
          </a:prstGeom>
          <a:noFill/>
          <a:ln/>
        </p:spPr>
        <p:txBody>
          <a:bodyPr wrap="square" lIns="0" tIns="0" rIns="0" bIns="0" rtlCol="0" anchor="t"/>
          <a:lstStyle/>
          <a:p>
            <a:pPr marL="0" indent="0" algn="ctr">
              <a:buNone/>
            </a:pPr>
            <a:endParaRPr lang="en-US" sz="1000" dirty="0"/>
          </a:p>
        </p:txBody>
      </p:sp>
      <p:sp>
        <p:nvSpPr>
          <p:cNvPr id="26" name="Text 24"/>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11</a:t>
            </a:r>
            <a:endParaRPr lang="en-US" sz="1000" dirty="0"/>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43000"/>
            <a:ext cx="12191999"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121826"/>
                </a:solidFill>
                <a:latin typeface="Cambria" pitchFamily="34" charset="0"/>
                <a:ea typeface="Cambria" pitchFamily="34" charset="-122"/>
                <a:cs typeface="Cambria" pitchFamily="34" charset="-120"/>
              </a:rPr>
              <a:t> </a:t>
            </a:r>
            <a:r>
              <a:rPr lang="en-US" sz="3200" b="1" dirty="0" smtClean="0">
                <a:solidFill>
                  <a:srgbClr val="121826"/>
                </a:solidFill>
                <a:latin typeface="Cambria" pitchFamily="34" charset="0"/>
                <a:ea typeface="Cambria" pitchFamily="34" charset="-122"/>
                <a:cs typeface="Cambria" pitchFamily="34" charset="-120"/>
              </a:rPr>
              <a:t>Response telegram</a:t>
            </a:r>
            <a:endParaRPr lang="en-US" sz="32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79" y="1352282"/>
            <a:ext cx="5358765" cy="5505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5705" y="1352283"/>
            <a:ext cx="4646295" cy="5505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6290456"/>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3B6E8F"/>
                </a:solidFill>
                <a:latin typeface="Calibri" pitchFamily="34" charset="0"/>
                <a:ea typeface="Calibri" pitchFamily="34" charset="-122"/>
                <a:cs typeface="Calibri" pitchFamily="34" charset="-120"/>
              </a:rPr>
              <a:t>FROM PREDICTION TO GUIDANCE</a:t>
            </a:r>
            <a:endParaRPr lang="en-US" sz="120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121826"/>
                </a:solidFill>
                <a:latin typeface="Cambria" pitchFamily="34" charset="0"/>
                <a:ea typeface="Cambria" pitchFamily="34" charset="-122"/>
                <a:cs typeface="Cambria" pitchFamily="34" charset="-120"/>
              </a:rPr>
              <a:t>AI Agent Integration</a:t>
            </a:r>
            <a:endParaRPr lang="en-US" sz="3200" dirty="0"/>
          </a:p>
        </p:txBody>
      </p:sp>
      <p:sp>
        <p:nvSpPr>
          <p:cNvPr id="4" name="Shape 2"/>
          <p:cNvSpPr/>
          <p:nvPr/>
        </p:nvSpPr>
        <p:spPr>
          <a:xfrm>
            <a:off x="548640" y="1691640"/>
            <a:ext cx="3291840" cy="4023360"/>
          </a:xfrm>
          <a:prstGeom prst="roundRect">
            <a:avLst>
              <a:gd name="adj" fmla="val 2222"/>
            </a:avLst>
          </a:prstGeom>
          <a:solidFill>
            <a:srgbClr val="FFFFFF"/>
          </a:solidFill>
          <a:ln w="12700">
            <a:solidFill>
              <a:srgbClr val="E2E6EC"/>
            </a:solidFill>
            <a:prstDash val="solid"/>
          </a:ln>
          <a:effectLst>
            <a:outerShdw blurRad="101600" dist="38100" dir="5400000" algn="bl" rotWithShape="0">
              <a:srgbClr val="0B0F17">
                <a:alpha val="35000"/>
              </a:srgbClr>
            </a:outerShdw>
          </a:effectLst>
        </p:spPr>
        <p:txBody>
          <a:bodyPr/>
          <a:p/>
        </p:txBody>
      </p:sp>
      <p:sp>
        <p:nvSpPr>
          <p:cNvPr id="5" name="Text 3"/>
          <p:cNvSpPr/>
          <p:nvPr/>
        </p:nvSpPr>
        <p:spPr>
          <a:xfrm>
            <a:off x="822960" y="1920240"/>
            <a:ext cx="2743200" cy="274320"/>
          </a:xfrm>
          <a:prstGeom prst="rect">
            <a:avLst/>
          </a:prstGeom>
          <a:noFill/>
          <a:ln/>
        </p:spPr>
        <p:txBody>
          <a:bodyPr wrap="square" lIns="0" tIns="0" rIns="0" bIns="0" rtlCol="0" anchor="ctr"/>
          <a:lstStyle/>
          <a:p>
            <a:pPr marL="0" indent="0">
              <a:buNone/>
            </a:pPr>
            <a:r>
              <a:rPr lang="en-US" sz="1100" b="1" kern="0" spc="150" dirty="0">
                <a:solidFill>
                  <a:srgbClr val="3B6E8F"/>
                </a:solidFill>
                <a:latin typeface="Calibri" pitchFamily="34" charset="0"/>
                <a:ea typeface="Calibri" pitchFamily="34" charset="-122"/>
                <a:cs typeface="Calibri" pitchFamily="34" charset="-120"/>
              </a:rPr>
              <a:t>INPUT</a:t>
            </a:r>
            <a:endParaRPr lang="en-US" sz="1100" dirty="0"/>
          </a:p>
        </p:txBody>
      </p:sp>
      <p:sp>
        <p:nvSpPr>
          <p:cNvPr id="6" name="Text 4"/>
          <p:cNvSpPr/>
          <p:nvPr/>
        </p:nvSpPr>
        <p:spPr>
          <a:xfrm>
            <a:off x="822960" y="2286000"/>
            <a:ext cx="2743200" cy="3200400"/>
          </a:xfrm>
          <a:prstGeom prst="rect">
            <a:avLst/>
          </a:prstGeom>
          <a:noFill/>
          <a:ln/>
        </p:spPr>
        <p:txBody>
          <a:bodyPr wrap="square" lIns="0" tIns="0" rIns="0" bIns="0" rtlCol="0" anchor="t"/>
          <a:lstStyle/>
          <a:p>
            <a:pPr marL="228600" indent="-228600">
              <a:lnSpc>
                <a:spcPct val="110000"/>
              </a:lnSpc>
              <a:spcAft>
                <a:spcPts val="1200"/>
              </a:spcAft>
              <a:buSzPct val="100000"/>
              <a:buChar char="▪"/>
            </a:pPr>
            <a:r>
              <a:rPr lang="en-US" sz="1250" dirty="0">
                <a:solidFill>
                  <a:srgbClr val="121826"/>
                </a:solidFill>
                <a:latin typeface="Calibri" pitchFamily="34" charset="0"/>
                <a:ea typeface="Calibri" pitchFamily="34" charset="-122"/>
                <a:cs typeface="Calibri" pitchFamily="34" charset="-120"/>
              </a:rPr>
              <a:t>Machine ID &amp; type</a:t>
            </a:r>
            <a:endParaRPr lang="en-US" sz="1250" dirty="0"/>
          </a:p>
          <a:p>
            <a:pPr marL="228600" indent="-228600">
              <a:lnSpc>
                <a:spcPct val="110000"/>
              </a:lnSpc>
              <a:spcAft>
                <a:spcPts val="1200"/>
              </a:spcAft>
              <a:buSzPct val="100000"/>
              <a:buChar char="▪"/>
            </a:pPr>
            <a:r>
              <a:rPr lang="en-US" sz="1250" dirty="0">
                <a:solidFill>
                  <a:srgbClr val="121826"/>
                </a:solidFill>
                <a:latin typeface="Calibri" pitchFamily="34" charset="0"/>
                <a:ea typeface="Calibri" pitchFamily="34" charset="-122"/>
                <a:cs typeface="Calibri" pitchFamily="34" charset="-120"/>
              </a:rPr>
              <a:t>Failure prediction </a:t>
            </a:r>
            <a:r>
              <a:rPr lang="en-US" sz="1250" dirty="0" smtClean="0">
                <a:solidFill>
                  <a:srgbClr val="121826"/>
                </a:solidFill>
                <a:latin typeface="Calibri" pitchFamily="34" charset="0"/>
                <a:ea typeface="Calibri" pitchFamily="34" charset="-122"/>
                <a:cs typeface="Calibri" pitchFamily="34" charset="-120"/>
              </a:rPr>
              <a:t>(1</a:t>
            </a:r>
            <a:r>
              <a:rPr lang="en-US" sz="1250" dirty="0">
                <a:solidFill>
                  <a:srgbClr val="121826"/>
                </a:solidFill>
                <a:latin typeface="Calibri" pitchFamily="34" charset="0"/>
                <a:ea typeface="Calibri" pitchFamily="34" charset="-122"/>
                <a:cs typeface="Calibri" pitchFamily="34" charset="-120"/>
              </a:rPr>
              <a:t>)</a:t>
            </a:r>
            <a:endParaRPr lang="en-US" sz="1250" dirty="0"/>
          </a:p>
          <a:p>
            <a:pPr marL="228600" indent="-228600">
              <a:lnSpc>
                <a:spcPct val="110000"/>
              </a:lnSpc>
              <a:spcAft>
                <a:spcPts val="1200"/>
              </a:spcAft>
              <a:buSzPct val="100000"/>
              <a:buChar char="▪"/>
            </a:pPr>
            <a:r>
              <a:rPr lang="en-US" sz="1250" dirty="0">
                <a:solidFill>
                  <a:srgbClr val="121826"/>
                </a:solidFill>
                <a:latin typeface="Calibri" pitchFamily="34" charset="0"/>
                <a:ea typeface="Calibri" pitchFamily="34" charset="-122"/>
                <a:cs typeface="Calibri" pitchFamily="34" charset="-120"/>
              </a:rPr>
              <a:t>Predicted failure type</a:t>
            </a:r>
            <a:endParaRPr lang="en-US" sz="1250" dirty="0"/>
          </a:p>
          <a:p>
            <a:pPr marL="228600" indent="-228600">
              <a:lnSpc>
                <a:spcPct val="110000"/>
              </a:lnSpc>
              <a:spcAft>
                <a:spcPts val="1200"/>
              </a:spcAft>
              <a:buSzPct val="100000"/>
              <a:buChar char="▪"/>
            </a:pPr>
            <a:r>
              <a:rPr lang="en-US" sz="1250" dirty="0">
                <a:solidFill>
                  <a:srgbClr val="121826"/>
                </a:solidFill>
                <a:latin typeface="Calibri" pitchFamily="34" charset="0"/>
                <a:ea typeface="Calibri" pitchFamily="34" charset="-122"/>
                <a:cs typeface="Calibri" pitchFamily="34" charset="-120"/>
              </a:rPr>
              <a:t>Recent sensor </a:t>
            </a:r>
            <a:r>
              <a:rPr lang="en-US" sz="1250" dirty="0" smtClean="0">
                <a:solidFill>
                  <a:srgbClr val="121826"/>
                </a:solidFill>
                <a:latin typeface="Calibri" pitchFamily="34" charset="0"/>
                <a:ea typeface="Calibri" pitchFamily="34" charset="-122"/>
                <a:cs typeface="Calibri" pitchFamily="34" charset="-120"/>
              </a:rPr>
              <a:t>trend</a:t>
            </a:r>
            <a:endParaRPr lang="en-US" sz="1250" dirty="0"/>
          </a:p>
        </p:txBody>
      </p:sp>
      <p:sp>
        <p:nvSpPr>
          <p:cNvPr id="7" name="Shape 5"/>
          <p:cNvSpPr/>
          <p:nvPr/>
        </p:nvSpPr>
        <p:spPr>
          <a:xfrm>
            <a:off x="3977640" y="3566160"/>
            <a:ext cx="502920" cy="201168"/>
          </a:xfrm>
          <a:prstGeom prst="rightArrow">
            <a:avLst/>
          </a:prstGeom>
          <a:solidFill>
            <a:srgbClr val="3B6E8F"/>
          </a:solidFill>
          <a:ln/>
        </p:spPr>
        <p:txBody>
          <a:bodyPr/>
          <a:p/>
        </p:txBody>
      </p:sp>
      <p:sp>
        <p:nvSpPr>
          <p:cNvPr id="8" name="Shape 6"/>
          <p:cNvSpPr/>
          <p:nvPr/>
        </p:nvSpPr>
        <p:spPr>
          <a:xfrm>
            <a:off x="4617720" y="1691640"/>
            <a:ext cx="3017520" cy="4023360"/>
          </a:xfrm>
          <a:prstGeom prst="roundRect">
            <a:avLst>
              <a:gd name="adj" fmla="val 2424"/>
            </a:avLst>
          </a:prstGeom>
          <a:solidFill>
            <a:srgbClr val="121826"/>
          </a:solidFill>
          <a:ln/>
          <a:effectLst>
            <a:outerShdw blurRad="101600" dist="38100" dir="5400000" algn="bl" rotWithShape="0">
              <a:srgbClr val="0B0F17">
                <a:alpha val="35000"/>
              </a:srgbClr>
            </a:outerShdw>
          </a:effectLst>
        </p:spPr>
        <p:txBody>
          <a:bodyPr/>
          <a:p/>
        </p:txBody>
      </p:sp>
      <p:sp>
        <p:nvSpPr>
          <p:cNvPr id="9" name="Shape 7"/>
          <p:cNvSpPr/>
          <p:nvPr/>
        </p:nvSpPr>
        <p:spPr>
          <a:xfrm>
            <a:off x="5715000" y="1965960"/>
            <a:ext cx="822960" cy="822960"/>
          </a:xfrm>
          <a:prstGeom prst="ellipse">
            <a:avLst/>
          </a:prstGeom>
          <a:solidFill>
            <a:srgbClr val="E8A33D"/>
          </a:solidFill>
          <a:ln/>
        </p:spPr>
        <p:txBody>
          <a:bodyPr/>
          <a:p/>
        </p:txBody>
      </p:sp>
      <p:sp>
        <p:nvSpPr>
          <p:cNvPr id="10" name="Text 8"/>
          <p:cNvSpPr/>
          <p:nvPr/>
        </p:nvSpPr>
        <p:spPr>
          <a:xfrm>
            <a:off x="5715000" y="1965960"/>
            <a:ext cx="822960" cy="822960"/>
          </a:xfrm>
          <a:prstGeom prst="rect">
            <a:avLst/>
          </a:prstGeom>
          <a:noFill/>
          <a:ln/>
        </p:spPr>
        <p:txBody>
          <a:bodyPr wrap="square" lIns="0" tIns="0" rIns="0" bIns="0" rtlCol="0" anchor="ctr"/>
          <a:lstStyle/>
          <a:p>
            <a:pPr marL="0" indent="0" algn="ctr">
              <a:buNone/>
            </a:pPr>
            <a:r>
              <a:rPr lang="en-US" sz="2340" b="1" dirty="0">
                <a:solidFill>
                  <a:srgbClr val="121826"/>
                </a:solidFill>
                <a:latin typeface="Calibri" pitchFamily="34" charset="0"/>
                <a:ea typeface="Calibri" pitchFamily="34" charset="-122"/>
                <a:cs typeface="Calibri" pitchFamily="34" charset="-120"/>
              </a:rPr>
              <a:t>AI</a:t>
            </a:r>
            <a:endParaRPr lang="en-US" sz="2340" dirty="0"/>
          </a:p>
        </p:txBody>
      </p:sp>
      <p:sp>
        <p:nvSpPr>
          <p:cNvPr id="11" name="Text 9"/>
          <p:cNvSpPr/>
          <p:nvPr/>
        </p:nvSpPr>
        <p:spPr>
          <a:xfrm>
            <a:off x="4800600" y="2926080"/>
            <a:ext cx="265176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Gemini / OpenAI</a:t>
            </a:r>
            <a:endParaRPr lang="en-US" sz="1500" dirty="0"/>
          </a:p>
          <a:p>
            <a:pPr marL="0" indent="0" algn="ctr">
              <a:buNone/>
            </a:pPr>
            <a:r>
              <a:rPr lang="en-US" sz="1500" b="1" dirty="0">
                <a:solidFill>
                  <a:srgbClr val="FFFFFF"/>
                </a:solidFill>
                <a:latin typeface="Cambria" pitchFamily="34" charset="0"/>
                <a:ea typeface="Cambria" pitchFamily="34" charset="-122"/>
                <a:cs typeface="Cambria" pitchFamily="34" charset="-120"/>
              </a:rPr>
              <a:t>Agent</a:t>
            </a:r>
            <a:endParaRPr lang="en-US" sz="1500" dirty="0"/>
          </a:p>
        </p:txBody>
      </p:sp>
      <p:sp>
        <p:nvSpPr>
          <p:cNvPr id="12" name="Text 10"/>
          <p:cNvSpPr/>
          <p:nvPr/>
        </p:nvSpPr>
        <p:spPr>
          <a:xfrm>
            <a:off x="4892040" y="3520440"/>
            <a:ext cx="2468880" cy="1737360"/>
          </a:xfrm>
          <a:prstGeom prst="rect">
            <a:avLst/>
          </a:prstGeom>
          <a:noFill/>
          <a:ln/>
        </p:spPr>
        <p:txBody>
          <a:bodyPr wrap="square" lIns="0" tIns="0" rIns="0" bIns="0" rtlCol="0" anchor="ctr"/>
          <a:lstStyle/>
          <a:p>
            <a:pPr marL="0" indent="0" algn="ctr">
              <a:buNone/>
            </a:pPr>
            <a:r>
              <a:rPr lang="en-US" sz="1150" dirty="0">
                <a:solidFill>
                  <a:srgbClr val="AEB8C4"/>
                </a:solidFill>
                <a:latin typeface="Calibri" pitchFamily="34" charset="0"/>
                <a:ea typeface="Calibri" pitchFamily="34" charset="-122"/>
                <a:cs typeface="Calibri" pitchFamily="34" charset="-120"/>
              </a:rPr>
              <a:t>Reasons over structured model output using a domain-specific prompt and machine context.</a:t>
            </a:r>
            <a:endParaRPr lang="en-US" sz="1150" dirty="0"/>
          </a:p>
        </p:txBody>
      </p:sp>
      <p:sp>
        <p:nvSpPr>
          <p:cNvPr id="13" name="Shape 11"/>
          <p:cNvSpPr/>
          <p:nvPr/>
        </p:nvSpPr>
        <p:spPr>
          <a:xfrm>
            <a:off x="7680960" y="3566160"/>
            <a:ext cx="502920" cy="201168"/>
          </a:xfrm>
          <a:prstGeom prst="rightArrow">
            <a:avLst/>
          </a:prstGeom>
          <a:solidFill>
            <a:srgbClr val="3B6E8F"/>
          </a:solidFill>
          <a:ln/>
        </p:spPr>
        <p:txBody>
          <a:bodyPr/>
          <a:p/>
        </p:txBody>
      </p:sp>
      <p:sp>
        <p:nvSpPr>
          <p:cNvPr id="14" name="Shape 12"/>
          <p:cNvSpPr/>
          <p:nvPr/>
        </p:nvSpPr>
        <p:spPr>
          <a:xfrm>
            <a:off x="8275320" y="1691640"/>
            <a:ext cx="3337560" cy="4023360"/>
          </a:xfrm>
          <a:prstGeom prst="roundRect">
            <a:avLst>
              <a:gd name="adj" fmla="val 2192"/>
            </a:avLst>
          </a:prstGeom>
          <a:solidFill>
            <a:srgbClr val="FFFFFF"/>
          </a:solidFill>
          <a:ln w="12700">
            <a:solidFill>
              <a:srgbClr val="E2E6EC"/>
            </a:solidFill>
            <a:prstDash val="solid"/>
          </a:ln>
          <a:effectLst>
            <a:outerShdw blurRad="101600" dist="38100" dir="5400000" algn="bl" rotWithShape="0">
              <a:srgbClr val="0B0F17">
                <a:alpha val="35000"/>
              </a:srgbClr>
            </a:outerShdw>
          </a:effectLst>
        </p:spPr>
        <p:txBody>
          <a:bodyPr/>
          <a:p/>
        </p:txBody>
      </p:sp>
      <p:sp>
        <p:nvSpPr>
          <p:cNvPr id="15" name="Text 13"/>
          <p:cNvSpPr/>
          <p:nvPr/>
        </p:nvSpPr>
        <p:spPr>
          <a:xfrm>
            <a:off x="8549640" y="1920240"/>
            <a:ext cx="2743200" cy="274320"/>
          </a:xfrm>
          <a:prstGeom prst="rect">
            <a:avLst/>
          </a:prstGeom>
          <a:noFill/>
          <a:ln/>
        </p:spPr>
        <p:txBody>
          <a:bodyPr wrap="square" lIns="0" tIns="0" rIns="0" bIns="0" rtlCol="0" anchor="ctr"/>
          <a:lstStyle/>
          <a:p>
            <a:pPr marL="0" indent="0">
              <a:buNone/>
            </a:pPr>
            <a:r>
              <a:rPr lang="en-US" sz="1100" b="1" kern="0" spc="150" dirty="0">
                <a:solidFill>
                  <a:srgbClr val="E8A33D"/>
                </a:solidFill>
                <a:latin typeface="Calibri" pitchFamily="34" charset="0"/>
                <a:ea typeface="Calibri" pitchFamily="34" charset="-122"/>
                <a:cs typeface="Calibri" pitchFamily="34" charset="-120"/>
              </a:rPr>
              <a:t>OUTPUT</a:t>
            </a:r>
            <a:endParaRPr lang="en-US" sz="1100" dirty="0"/>
          </a:p>
        </p:txBody>
      </p:sp>
      <p:sp>
        <p:nvSpPr>
          <p:cNvPr id="16" name="Text 14"/>
          <p:cNvSpPr/>
          <p:nvPr/>
        </p:nvSpPr>
        <p:spPr>
          <a:xfrm>
            <a:off x="8549640" y="2286000"/>
            <a:ext cx="2880360" cy="3200400"/>
          </a:xfrm>
          <a:prstGeom prst="rect">
            <a:avLst/>
          </a:prstGeom>
          <a:noFill/>
          <a:ln/>
        </p:spPr>
        <p:txBody>
          <a:bodyPr wrap="square" lIns="0" tIns="0" rIns="0" bIns="0" rtlCol="0" anchor="t"/>
          <a:lstStyle/>
          <a:p>
            <a:pPr marL="228600" indent="-228600">
              <a:lnSpc>
                <a:spcPct val="110000"/>
              </a:lnSpc>
              <a:spcAft>
                <a:spcPts val="1200"/>
              </a:spcAft>
              <a:buSzPct val="100000"/>
              <a:buChar char="▪"/>
            </a:pPr>
            <a:r>
              <a:rPr lang="en-US" sz="1250" dirty="0">
                <a:solidFill>
                  <a:srgbClr val="121826"/>
                </a:solidFill>
                <a:latin typeface="Calibri" pitchFamily="34" charset="0"/>
                <a:ea typeface="Calibri" pitchFamily="34" charset="-122"/>
                <a:cs typeface="Calibri" pitchFamily="34" charset="-120"/>
              </a:rPr>
              <a:t>Plain-language explanation of the risk</a:t>
            </a:r>
            <a:endParaRPr lang="en-US" sz="1250" dirty="0"/>
          </a:p>
          <a:p>
            <a:pPr marL="228600" indent="-228600">
              <a:lnSpc>
                <a:spcPct val="110000"/>
              </a:lnSpc>
              <a:spcAft>
                <a:spcPts val="1200"/>
              </a:spcAft>
              <a:buSzPct val="100000"/>
              <a:buChar char="▪"/>
            </a:pPr>
            <a:r>
              <a:rPr lang="en-US" sz="1250" dirty="0">
                <a:solidFill>
                  <a:srgbClr val="121826"/>
                </a:solidFill>
                <a:latin typeface="Calibri" pitchFamily="34" charset="0"/>
                <a:ea typeface="Calibri" pitchFamily="34" charset="-122"/>
                <a:cs typeface="Calibri" pitchFamily="34" charset="-120"/>
              </a:rPr>
              <a:t>Likely root cause reasoning</a:t>
            </a:r>
            <a:endParaRPr lang="en-US" sz="1250" dirty="0"/>
          </a:p>
          <a:p>
            <a:pPr marL="228600" indent="-228600">
              <a:lnSpc>
                <a:spcPct val="110000"/>
              </a:lnSpc>
              <a:spcAft>
                <a:spcPts val="1200"/>
              </a:spcAft>
              <a:buSzPct val="100000"/>
              <a:buChar char="▪"/>
            </a:pPr>
            <a:r>
              <a:rPr lang="en-US" sz="1250" dirty="0">
                <a:solidFill>
                  <a:srgbClr val="121826"/>
                </a:solidFill>
                <a:latin typeface="Calibri" pitchFamily="34" charset="0"/>
                <a:ea typeface="Calibri" pitchFamily="34" charset="-122"/>
                <a:cs typeface="Calibri" pitchFamily="34" charset="-120"/>
              </a:rPr>
              <a:t>Recommended maintenance action</a:t>
            </a:r>
            <a:endParaRPr lang="en-US" sz="1250" dirty="0"/>
          </a:p>
          <a:p>
            <a:pPr marL="228600" indent="-228600">
              <a:lnSpc>
                <a:spcPct val="110000"/>
              </a:lnSpc>
              <a:spcAft>
                <a:spcPts val="1200"/>
              </a:spcAft>
              <a:buSzPct val="100000"/>
              <a:buChar char="▪"/>
            </a:pPr>
            <a:r>
              <a:rPr lang="en-US" sz="1250" dirty="0">
                <a:solidFill>
                  <a:srgbClr val="121826"/>
                </a:solidFill>
                <a:latin typeface="Calibri" pitchFamily="34" charset="0"/>
                <a:ea typeface="Calibri" pitchFamily="34" charset="-122"/>
                <a:cs typeface="Calibri" pitchFamily="34" charset="-120"/>
              </a:rPr>
              <a:t>Urgency level (Low / Medium / High)</a:t>
            </a:r>
            <a:endParaRPr lang="en-US" sz="1250" dirty="0"/>
          </a:p>
        </p:txBody>
      </p:sp>
      <p:sp>
        <p:nvSpPr>
          <p:cNvPr id="17" name="Text 15"/>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12</a:t>
            </a:r>
            <a:endParaRPr lang="en-US" sz="1000" dirty="0"/>
          </a:p>
        </p:txBody>
      </p:sp>
    </p:spTree>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3B6E8F"/>
                </a:solidFill>
                <a:latin typeface="Calibri" pitchFamily="34" charset="0"/>
                <a:ea typeface="Calibri" pitchFamily="34" charset="-122"/>
                <a:cs typeface="Calibri" pitchFamily="34" charset="-120"/>
              </a:rPr>
              <a:t>VISUALIZING MACHINE HEALTH</a:t>
            </a:r>
            <a:endParaRPr lang="en-US" sz="120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121826"/>
                </a:solidFill>
                <a:latin typeface="Cambria" pitchFamily="34" charset="0"/>
                <a:ea typeface="Cambria" pitchFamily="34" charset="-122"/>
                <a:cs typeface="Cambria" pitchFamily="34" charset="-120"/>
              </a:rPr>
              <a:t>Power BI Dashboard</a:t>
            </a:r>
            <a:endParaRPr lang="en-US" sz="3200" dirty="0"/>
          </a:p>
        </p:txBody>
      </p:sp>
      <p:sp>
        <p:nvSpPr>
          <p:cNvPr id="18" name="Text 14"/>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14</a:t>
            </a:r>
            <a:endParaRPr lang="en-US" sz="1000"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17242"/>
            <a:ext cx="12192000" cy="5714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1999"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7310240"/>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8">
    <p:bg>
      <p:bgPr>
        <a:solidFill>
          <a:srgbClr val="121826"/>
        </a:solidFill>
        <a:effectLst/>
      </p:bgPr>
    </p:bg>
    <p:spTree>
      <p:nvGrpSpPr>
        <p:cNvPr id="1" name=""/>
        <p:cNvGrpSpPr/>
        <p:nvPr/>
      </p:nvGrpSpPr>
      <p:grpSpPr>
        <a:xfrm>
          <a:off x="0" y="0"/>
          <a:ext cx="0" cy="0"/>
          <a:chOff x="0" y="0"/>
          <a:chExt cx="0" cy="0"/>
        </a:xfrm>
      </p:grpSpPr>
      <p:sp>
        <p:nvSpPr>
          <p:cNvPr id="2" name="Shape 0"/>
          <p:cNvSpPr/>
          <p:nvPr/>
        </p:nvSpPr>
        <p:spPr>
          <a:xfrm>
            <a:off x="-1371600" y="-1645920"/>
            <a:ext cx="4114800" cy="4114800"/>
          </a:xfrm>
          <a:prstGeom prst="ellipse">
            <a:avLst/>
          </a:prstGeom>
          <a:solidFill>
            <a:srgbClr val="1B2438"/>
          </a:solidFill>
          <a:ln/>
        </p:spPr>
        <p:txBody>
          <a:bodyPr/>
          <a:p/>
        </p:txBody>
      </p:sp>
      <p:sp>
        <p:nvSpPr>
          <p:cNvPr id="3" name="Shape 1"/>
          <p:cNvSpPr/>
          <p:nvPr/>
        </p:nvSpPr>
        <p:spPr>
          <a:xfrm>
            <a:off x="10515600" y="4572000"/>
            <a:ext cx="3291840" cy="3291840"/>
          </a:xfrm>
          <a:prstGeom prst="ellipse">
            <a:avLst/>
          </a:prstGeom>
          <a:solidFill>
            <a:srgbClr val="232D42"/>
          </a:solidFill>
          <a:ln/>
        </p:spPr>
        <p:txBody>
          <a:bodyPr/>
          <a:p/>
        </p:txBody>
      </p:sp>
      <p:sp>
        <p:nvSpPr>
          <p:cNvPr id="4" name="Text 2"/>
          <p:cNvSpPr/>
          <p:nvPr/>
        </p:nvSpPr>
        <p:spPr>
          <a:xfrm>
            <a:off x="822960" y="1188720"/>
            <a:ext cx="5486400" cy="365760"/>
          </a:xfrm>
          <a:prstGeom prst="rect">
            <a:avLst/>
          </a:prstGeom>
          <a:noFill/>
          <a:ln/>
        </p:spPr>
        <p:txBody>
          <a:bodyPr wrap="square" lIns="0" tIns="0" rIns="0" bIns="0" rtlCol="0" anchor="ctr"/>
          <a:lstStyle/>
          <a:p>
            <a:pPr marL="0" indent="0">
              <a:buNone/>
            </a:pPr>
            <a:r>
              <a:rPr lang="en-US" sz="1300" b="1" kern="0" spc="300" dirty="0">
                <a:solidFill>
                  <a:srgbClr val="E8A33D"/>
                </a:solidFill>
                <a:latin typeface="Calibri" pitchFamily="34" charset="0"/>
                <a:ea typeface="Calibri" pitchFamily="34" charset="-122"/>
                <a:cs typeface="Calibri" pitchFamily="34" charset="-120"/>
              </a:rPr>
              <a:t>CONCLUSION</a:t>
            </a:r>
            <a:endParaRPr lang="en-US" sz="1300" dirty="0"/>
          </a:p>
        </p:txBody>
      </p:sp>
      <p:sp>
        <p:nvSpPr>
          <p:cNvPr id="5" name="Text 3"/>
          <p:cNvSpPr/>
          <p:nvPr/>
        </p:nvSpPr>
        <p:spPr>
          <a:xfrm>
            <a:off x="777240" y="1600200"/>
            <a:ext cx="8686800" cy="1554480"/>
          </a:xfrm>
          <a:prstGeom prst="rect">
            <a:avLst/>
          </a:prstGeom>
          <a:noFill/>
          <a:ln/>
        </p:spPr>
        <p:txBody>
          <a:bodyPr wrap="square" lIns="0" tIns="0" rIns="0" bIns="0" rtlCol="0" anchor="ctr"/>
          <a:lstStyle/>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From Raw Sensor Data</a:t>
            </a:r>
            <a:endParaRPr lang="en-US" sz="3600" dirty="0"/>
          </a:p>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to Automated Action</a:t>
            </a:r>
            <a:endParaRPr lang="en-US" sz="3600" dirty="0"/>
          </a:p>
        </p:txBody>
      </p:sp>
      <p:sp>
        <p:nvSpPr>
          <p:cNvPr id="6" name="Text 4"/>
          <p:cNvSpPr/>
          <p:nvPr/>
        </p:nvSpPr>
        <p:spPr>
          <a:xfrm>
            <a:off x="822960" y="3200400"/>
            <a:ext cx="7863840" cy="2743200"/>
          </a:xfrm>
          <a:prstGeom prst="rect">
            <a:avLst/>
          </a:prstGeom>
          <a:noFill/>
          <a:ln/>
        </p:spPr>
        <p:txBody>
          <a:bodyPr wrap="square" lIns="0" tIns="0" rIns="0" bIns="0" rtlCol="0" anchor="t"/>
          <a:lstStyle/>
          <a:p>
            <a:pPr marL="228600" indent="-228600">
              <a:lnSpc>
                <a:spcPct val="110000"/>
              </a:lnSpc>
              <a:spcAft>
                <a:spcPts val="1200"/>
              </a:spcAft>
              <a:buSzPct val="100000"/>
              <a:buChar char="▪"/>
            </a:pPr>
            <a:r>
              <a:rPr lang="en-US" sz="1400" dirty="0">
                <a:solidFill>
                  <a:srgbClr val="AEB8C4"/>
                </a:solidFill>
                <a:latin typeface="Calibri" pitchFamily="34" charset="0"/>
                <a:ea typeface="Calibri" pitchFamily="34" charset="-122"/>
                <a:cs typeface="Calibri" pitchFamily="34" charset="-120"/>
              </a:rPr>
              <a:t>Built an end-to-end predictive maintenance pipeline — from sensor data to a technician's phone.</a:t>
            </a:r>
            <a:endParaRPr lang="en-US" sz="1400" dirty="0"/>
          </a:p>
          <a:p>
            <a:pPr marL="228600" indent="-228600">
              <a:lnSpc>
                <a:spcPct val="110000"/>
              </a:lnSpc>
              <a:spcAft>
                <a:spcPts val="1200"/>
              </a:spcAft>
              <a:buSzPct val="100000"/>
              <a:buChar char="▪"/>
            </a:pPr>
            <a:r>
              <a:rPr lang="en-US" sz="1400" dirty="0">
                <a:solidFill>
                  <a:srgbClr val="AEB8C4"/>
                </a:solidFill>
                <a:latin typeface="Calibri" pitchFamily="34" charset="0"/>
                <a:ea typeface="Calibri" pitchFamily="34" charset="-122"/>
                <a:cs typeface="Calibri" pitchFamily="34" charset="-120"/>
              </a:rPr>
              <a:t>Two ML models work together to predict both failure risk and failure type with strong accuracy.</a:t>
            </a:r>
            <a:endParaRPr lang="en-US" sz="1400" dirty="0"/>
          </a:p>
          <a:p>
            <a:pPr marL="228600" indent="-228600">
              <a:lnSpc>
                <a:spcPct val="110000"/>
              </a:lnSpc>
              <a:spcAft>
                <a:spcPts val="1200"/>
              </a:spcAft>
              <a:buSzPct val="100000"/>
              <a:buChar char="▪"/>
            </a:pPr>
            <a:r>
              <a:rPr lang="en-US" sz="1400" dirty="0">
                <a:solidFill>
                  <a:srgbClr val="AEB8C4"/>
                </a:solidFill>
                <a:latin typeface="Calibri" pitchFamily="34" charset="0"/>
                <a:ea typeface="Calibri" pitchFamily="34" charset="-122"/>
                <a:cs typeface="Calibri" pitchFamily="34" charset="-120"/>
              </a:rPr>
              <a:t>n8n, FastAPI, and an AI agent fully automate the path from prediction to actionable recommendation.</a:t>
            </a:r>
            <a:endParaRPr lang="en-US" sz="1400" dirty="0"/>
          </a:p>
          <a:p>
            <a:pPr marL="228600" indent="-228600">
              <a:lnSpc>
                <a:spcPct val="110000"/>
              </a:lnSpc>
              <a:spcAft>
                <a:spcPts val="1200"/>
              </a:spcAft>
              <a:buSzPct val="100000"/>
              <a:buChar char="▪"/>
            </a:pPr>
            <a:r>
              <a:rPr lang="en-US" sz="1400" dirty="0">
                <a:solidFill>
                  <a:srgbClr val="AEB8C4"/>
                </a:solidFill>
                <a:latin typeface="Calibri" pitchFamily="34" charset="0"/>
                <a:ea typeface="Calibri" pitchFamily="34" charset="-122"/>
                <a:cs typeface="Calibri" pitchFamily="34" charset="-120"/>
              </a:rPr>
              <a:t>Power BI and Telegram close the loop, giving both real-time alerts and long-term visibility.</a:t>
            </a:r>
            <a:endParaRPr lang="en-US" sz="1400" dirty="0"/>
          </a:p>
          <a:p>
            <a:pPr marL="228600" indent="-228600">
              <a:lnSpc>
                <a:spcPct val="110000"/>
              </a:lnSpc>
              <a:spcAft>
                <a:spcPts val="1200"/>
              </a:spcAft>
              <a:buSzPct val="100000"/>
              <a:buChar char="▪"/>
            </a:pPr>
            <a:r>
              <a:rPr lang="en-US" sz="1400" dirty="0">
                <a:solidFill>
                  <a:srgbClr val="AEB8C4"/>
                </a:solidFill>
                <a:latin typeface="Calibri" pitchFamily="34" charset="0"/>
                <a:ea typeface="Calibri" pitchFamily="34" charset="-122"/>
                <a:cs typeface="Calibri" pitchFamily="34" charset="-120"/>
              </a:rPr>
              <a:t>The result: a practical shift from reactive repairs to proactive, data-driven maintenance.</a:t>
            </a:r>
            <a:endParaRPr lang="en-US" sz="1400" dirty="0"/>
          </a:p>
        </p:txBody>
      </p:sp>
      <p:sp>
        <p:nvSpPr>
          <p:cNvPr id="7" name="Shape 5"/>
          <p:cNvSpPr/>
          <p:nvPr/>
        </p:nvSpPr>
        <p:spPr>
          <a:xfrm>
            <a:off x="822960" y="6080760"/>
            <a:ext cx="2743200" cy="0"/>
          </a:xfrm>
          <a:prstGeom prst="line">
            <a:avLst/>
          </a:prstGeom>
          <a:noFill/>
          <a:ln w="25400">
            <a:solidFill>
              <a:srgbClr val="3B6E8F"/>
            </a:solidFill>
            <a:prstDash val="solid"/>
          </a:ln>
        </p:spPr>
        <p:txBody>
          <a:bodyPr/>
          <a:p/>
        </p:txBody>
      </p:sp>
      <p:sp>
        <p:nvSpPr>
          <p:cNvPr id="8" name="Text 6"/>
          <p:cNvSpPr/>
          <p:nvPr/>
        </p:nvSpPr>
        <p:spPr>
          <a:xfrm>
            <a:off x="822960" y="6217920"/>
            <a:ext cx="7315200" cy="365760"/>
          </a:xfrm>
          <a:prstGeom prst="rect">
            <a:avLst/>
          </a:prstGeom>
          <a:noFill/>
          <a:ln/>
        </p:spPr>
        <p:txBody>
          <a:bodyPr wrap="square" lIns="0" tIns="0" rIns="0" bIns="0" rtlCol="0" anchor="ctr"/>
          <a:lstStyle/>
          <a:p>
            <a:pPr marL="0" indent="0">
              <a:buNone/>
            </a:pPr>
            <a:r>
              <a:rPr lang="en-US" sz="1500" i="1" dirty="0">
                <a:solidFill>
                  <a:srgbClr val="FFFFFF"/>
                </a:solidFill>
                <a:latin typeface="Calibri" pitchFamily="34" charset="0"/>
                <a:ea typeface="Calibri" pitchFamily="34" charset="-122"/>
                <a:cs typeface="Calibri" pitchFamily="34" charset="-120"/>
              </a:rPr>
              <a:t>Thank you — questions welcome.</a:t>
            </a:r>
            <a:endParaRPr lang="en-US" sz="1500" dirty="0"/>
          </a:p>
        </p:txBody>
      </p:sp>
    </p:spTree>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718</TotalTime>
  <Words>1805</Words>
  <Application>Microsoft Office PowerPoint</Application>
  <PresentationFormat>Custom</PresentationFormat>
  <Paragraphs>172</Paragraphs>
  <Slides>14</Slides>
  <Notes>12</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Predictive Maintenance System - Portfolio Presentation</dc:title>
  <dc:subject>AI Automation Portfolio Project</dc:subject>
  <dc:creator>Ali Faiz</dc:creator>
  <cp:lastModifiedBy>Ali Faiz</cp:lastModifiedBy>
  <cp:revision>16</cp:revision>
  <dcterms:created xsi:type="dcterms:W3CDTF">2026-07-10T18:11:09Z</dcterms:created>
  <dcterms:modified xsi:type="dcterms:W3CDTF">2026-07-18T20:53:28Z</dcterms:modified>
</cp:coreProperties>
</file>